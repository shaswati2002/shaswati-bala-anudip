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BBBB4-3067-48FE-B56D-2B7C53706070}"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C0D855-0FDF-4201-8C5F-2AEE4CD78DAE}" type="slidenum">
              <a:rPr lang="en-IN" smtClean="0"/>
              <a:t>‹#›</a:t>
            </a:fld>
            <a:endParaRPr lang="en-IN"/>
          </a:p>
        </p:txBody>
      </p:sp>
    </p:spTree>
    <p:extLst>
      <p:ext uri="{BB962C8B-B14F-4D97-AF65-F5344CB8AC3E}">
        <p14:creationId xmlns:p14="http://schemas.microsoft.com/office/powerpoint/2010/main" val="1968974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C0D855-0FDF-4201-8C5F-2AEE4CD78DAE}" type="slidenum">
              <a:rPr lang="en-IN" smtClean="0"/>
              <a:t>13</a:t>
            </a:fld>
            <a:endParaRPr lang="en-IN"/>
          </a:p>
        </p:txBody>
      </p:sp>
    </p:spTree>
    <p:extLst>
      <p:ext uri="{BB962C8B-B14F-4D97-AF65-F5344CB8AC3E}">
        <p14:creationId xmlns:p14="http://schemas.microsoft.com/office/powerpoint/2010/main" val="3206729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48779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2834575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4237222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89808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38B178-F28B-4392-AF2E-568E828E825B}"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199187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38B178-F28B-4392-AF2E-568E828E825B}" type="datetimeFigureOut">
              <a:rPr lang="en-IN" smtClean="0"/>
              <a:t>22-02-2026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213956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38B178-F28B-4392-AF2E-568E828E825B}" type="datetimeFigureOut">
              <a:rPr lang="en-IN" smtClean="0"/>
              <a:t>22-02-2026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512830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31400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354102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60405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F74FC44-CB45-43CB-BF61-A90EA29E37F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74805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3326641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F74FC44-CB45-43CB-BF61-A90EA29E37F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05729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38B178-F28B-4392-AF2E-568E828E825B}"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1924899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3547230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38B178-F28B-4392-AF2E-568E828E825B}"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74FC44-CB45-43CB-BF61-A90EA29E37FC}" type="slidenum">
              <a:rPr lang="en-IN" smtClean="0"/>
              <a:t>‹#›</a:t>
            </a:fld>
            <a:endParaRPr lang="en-IN"/>
          </a:p>
        </p:txBody>
      </p:sp>
    </p:spTree>
    <p:extLst>
      <p:ext uri="{BB962C8B-B14F-4D97-AF65-F5344CB8AC3E}">
        <p14:creationId xmlns:p14="http://schemas.microsoft.com/office/powerpoint/2010/main" val="3225098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638B178-F28B-4392-AF2E-568E828E825B}" type="datetimeFigureOut">
              <a:rPr lang="en-IN" smtClean="0"/>
              <a:t>22-02-2026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F74FC44-CB45-43CB-BF61-A90EA29E37FC}" type="slidenum">
              <a:rPr lang="en-IN" smtClean="0"/>
              <a:t>‹#›</a:t>
            </a:fld>
            <a:endParaRPr lang="en-IN"/>
          </a:p>
        </p:txBody>
      </p:sp>
    </p:spTree>
    <p:extLst>
      <p:ext uri="{BB962C8B-B14F-4D97-AF65-F5344CB8AC3E}">
        <p14:creationId xmlns:p14="http://schemas.microsoft.com/office/powerpoint/2010/main" val="15467062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0E55-6E06-2AD7-A43A-3B54C770B726}"/>
              </a:ext>
            </a:extLst>
          </p:cNvPr>
          <p:cNvSpPr>
            <a:spLocks noGrp="1"/>
          </p:cNvSpPr>
          <p:nvPr>
            <p:ph type="ctrTitle"/>
          </p:nvPr>
        </p:nvSpPr>
        <p:spPr>
          <a:xfrm>
            <a:off x="2589213" y="1848466"/>
            <a:ext cx="8915399" cy="1580534"/>
          </a:xfrm>
        </p:spPr>
        <p:txBody>
          <a:bodyPr/>
          <a:lstStyle/>
          <a:p>
            <a:r>
              <a:rPr lang="en-US" b="1" dirty="0">
                <a:solidFill>
                  <a:schemeClr val="bg1"/>
                </a:solidFill>
                <a:highlight>
                  <a:srgbClr val="800000"/>
                </a:highlight>
              </a:rPr>
              <a:t>Information Technology</a:t>
            </a:r>
            <a:endParaRPr lang="en-IN" b="1" dirty="0">
              <a:solidFill>
                <a:schemeClr val="bg1"/>
              </a:solidFill>
              <a:highlight>
                <a:srgbClr val="800000"/>
              </a:highlight>
            </a:endParaRPr>
          </a:p>
        </p:txBody>
      </p:sp>
      <p:sp>
        <p:nvSpPr>
          <p:cNvPr id="3" name="Subtitle 2">
            <a:extLst>
              <a:ext uri="{FF2B5EF4-FFF2-40B4-BE49-F238E27FC236}">
                <a16:creationId xmlns:a16="http://schemas.microsoft.com/office/drawing/2014/main" id="{CC504B18-A72E-B755-8805-D7DCBD52C21C}"/>
              </a:ext>
            </a:extLst>
          </p:cNvPr>
          <p:cNvSpPr>
            <a:spLocks noGrp="1"/>
          </p:cNvSpPr>
          <p:nvPr>
            <p:ph type="subTitle" idx="1"/>
          </p:nvPr>
        </p:nvSpPr>
        <p:spPr>
          <a:xfrm>
            <a:off x="2589213" y="3696929"/>
            <a:ext cx="8915399" cy="481781"/>
          </a:xfrm>
        </p:spPr>
        <p:txBody>
          <a:bodyPr>
            <a:normAutofit/>
          </a:bodyPr>
          <a:lstStyle/>
          <a:p>
            <a:r>
              <a:rPr lang="en-US" sz="2000" dirty="0"/>
              <a:t>SHASWATI BALA</a:t>
            </a:r>
          </a:p>
          <a:p>
            <a:endParaRPr lang="en-IN" sz="2000" dirty="0"/>
          </a:p>
        </p:txBody>
      </p:sp>
    </p:spTree>
    <p:extLst>
      <p:ext uri="{BB962C8B-B14F-4D97-AF65-F5344CB8AC3E}">
        <p14:creationId xmlns:p14="http://schemas.microsoft.com/office/powerpoint/2010/main" val="2237480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7395-8093-CDE7-9CAE-D1A4957F79D7}"/>
              </a:ext>
            </a:extLst>
          </p:cNvPr>
          <p:cNvSpPr>
            <a:spLocks noGrp="1"/>
          </p:cNvSpPr>
          <p:nvPr>
            <p:ph type="title"/>
          </p:nvPr>
        </p:nvSpPr>
        <p:spPr/>
        <p:txBody>
          <a:bodyPr/>
          <a:lstStyle/>
          <a:p>
            <a:r>
              <a:rPr lang="en-US" b="1" u="sng" dirty="0"/>
              <a:t>What is Information Technology?</a:t>
            </a:r>
            <a:endParaRPr lang="en-IN" b="1" u="sng" dirty="0"/>
          </a:p>
        </p:txBody>
      </p:sp>
      <p:sp>
        <p:nvSpPr>
          <p:cNvPr id="3" name="Content Placeholder 2">
            <a:extLst>
              <a:ext uri="{FF2B5EF4-FFF2-40B4-BE49-F238E27FC236}">
                <a16:creationId xmlns:a16="http://schemas.microsoft.com/office/drawing/2014/main" id="{0A9119C5-1114-5B9D-42FB-7B603AD536F8}"/>
              </a:ext>
            </a:extLst>
          </p:cNvPr>
          <p:cNvSpPr>
            <a:spLocks noGrp="1"/>
          </p:cNvSpPr>
          <p:nvPr>
            <p:ph idx="1"/>
          </p:nvPr>
        </p:nvSpPr>
        <p:spPr>
          <a:xfrm>
            <a:off x="2490889" y="1435510"/>
            <a:ext cx="8915400" cy="3777622"/>
          </a:xfrm>
        </p:spPr>
        <p:txBody>
          <a:bodyPr/>
          <a:lstStyle/>
          <a:p>
            <a:pPr>
              <a:buFont typeface="Wingdings" panose="05000000000000000000" pitchFamily="2" charset="2"/>
              <a:buChar char="v"/>
            </a:pPr>
            <a:r>
              <a:rPr lang="en-US" dirty="0"/>
              <a:t>Information Technology (IT) refers to the use of computers, software, networks, and other digital systems to create, store, process, transmit, and manage information. It includes both hardware (physical devices) and software (programs and applications) used to handle data efficiently.</a:t>
            </a:r>
          </a:p>
          <a:p>
            <a:pPr marL="0" indent="0">
              <a:buNone/>
            </a:pPr>
            <a:r>
              <a:rPr lang="en-US" dirty="0"/>
              <a:t>IT helps individuals and organizations perform tasks faster, communicate easily, store large amounts of data securely, and make better decisions based on information.</a:t>
            </a:r>
          </a:p>
          <a:p>
            <a:endParaRPr lang="en-IN" dirty="0"/>
          </a:p>
        </p:txBody>
      </p:sp>
    </p:spTree>
    <p:extLst>
      <p:ext uri="{BB962C8B-B14F-4D97-AF65-F5344CB8AC3E}">
        <p14:creationId xmlns:p14="http://schemas.microsoft.com/office/powerpoint/2010/main" val="2202862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F9D6-AF74-CDDF-7E0C-D9BE4F766DC7}"/>
              </a:ext>
            </a:extLst>
          </p:cNvPr>
          <p:cNvSpPr>
            <a:spLocks noGrp="1"/>
          </p:cNvSpPr>
          <p:nvPr>
            <p:ph type="title"/>
          </p:nvPr>
        </p:nvSpPr>
        <p:spPr/>
        <p:txBody>
          <a:bodyPr/>
          <a:lstStyle/>
          <a:p>
            <a:r>
              <a:rPr lang="en-US" b="1" u="sng" dirty="0"/>
              <a:t>Importance of IT</a:t>
            </a:r>
            <a:endParaRPr lang="en-IN" b="1" u="sng" dirty="0"/>
          </a:p>
        </p:txBody>
      </p:sp>
      <p:sp>
        <p:nvSpPr>
          <p:cNvPr id="3" name="Content Placeholder 2">
            <a:extLst>
              <a:ext uri="{FF2B5EF4-FFF2-40B4-BE49-F238E27FC236}">
                <a16:creationId xmlns:a16="http://schemas.microsoft.com/office/drawing/2014/main" id="{5975D239-4917-A55A-1A74-41DC5D89375B}"/>
              </a:ext>
            </a:extLst>
          </p:cNvPr>
          <p:cNvSpPr>
            <a:spLocks noGrp="1"/>
          </p:cNvSpPr>
          <p:nvPr>
            <p:ph idx="1"/>
          </p:nvPr>
        </p:nvSpPr>
        <p:spPr>
          <a:xfrm>
            <a:off x="2589212" y="1632155"/>
            <a:ext cx="8915400" cy="3942735"/>
          </a:xfrm>
        </p:spPr>
        <p:txBody>
          <a:bodyPr/>
          <a:lstStyle/>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Helps store and manage information safely.</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Makes communication faster (emails, video calls, messaging).</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Saves time and reduces manual work.</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Improves accuracy and reduces mistakes.</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Helps businesses manage data and customers.</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Supports online education and digital learning.</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Improves healthcare through digital records.</a:t>
            </a:r>
          </a:p>
          <a:p>
            <a:pPr lvl="0" defTabSz="914400" eaLnBrk="0" fontAlgn="base" hangingPunct="0">
              <a:spcBef>
                <a:spcPct val="0"/>
              </a:spcBef>
              <a:spcAft>
                <a:spcPct val="0"/>
              </a:spcAft>
              <a:buClrTx/>
              <a:buFont typeface="Courier New" panose="02070309020205020404" pitchFamily="49" charset="0"/>
              <a:buChar char="o"/>
            </a:pPr>
            <a:r>
              <a:rPr lang="en-US" altLang="en-US" dirty="0">
                <a:solidFill>
                  <a:schemeClr val="tx1"/>
                </a:solidFill>
                <a:latin typeface="Arial" panose="020B0604020202020204" pitchFamily="34" charset="0"/>
              </a:rPr>
              <a:t>Increases productivity and efficiency.</a:t>
            </a:r>
            <a:endParaRPr lang="en-IN" dirty="0"/>
          </a:p>
        </p:txBody>
      </p:sp>
    </p:spTree>
    <p:extLst>
      <p:ext uri="{BB962C8B-B14F-4D97-AF65-F5344CB8AC3E}">
        <p14:creationId xmlns:p14="http://schemas.microsoft.com/office/powerpoint/2010/main" val="1071889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242F-F61D-4F5E-5561-B2E3A640D93F}"/>
              </a:ext>
            </a:extLst>
          </p:cNvPr>
          <p:cNvSpPr>
            <a:spLocks noGrp="1"/>
          </p:cNvSpPr>
          <p:nvPr>
            <p:ph type="title"/>
          </p:nvPr>
        </p:nvSpPr>
        <p:spPr/>
        <p:txBody>
          <a:bodyPr/>
          <a:lstStyle/>
          <a:p>
            <a:r>
              <a:rPr lang="en-US" b="1" u="sng" dirty="0"/>
              <a:t>Core Components of IT</a:t>
            </a:r>
            <a:endParaRPr lang="en-IN" b="1" u="sng" dirty="0"/>
          </a:p>
        </p:txBody>
      </p:sp>
      <p:sp>
        <p:nvSpPr>
          <p:cNvPr id="3" name="Content Placeholder 2">
            <a:extLst>
              <a:ext uri="{FF2B5EF4-FFF2-40B4-BE49-F238E27FC236}">
                <a16:creationId xmlns:a16="http://schemas.microsoft.com/office/drawing/2014/main" id="{C5BF9D11-1981-1F8D-D8CD-0449347CF584}"/>
              </a:ext>
            </a:extLst>
          </p:cNvPr>
          <p:cNvSpPr>
            <a:spLocks noGrp="1"/>
          </p:cNvSpPr>
          <p:nvPr>
            <p:ph idx="1"/>
          </p:nvPr>
        </p:nvSpPr>
        <p:spPr/>
        <p:txBody>
          <a:bodyPr/>
          <a:lstStyle/>
          <a:p>
            <a:r>
              <a:rPr lang="en-US" dirty="0"/>
              <a:t>The core components of IT are:</a:t>
            </a:r>
          </a:p>
          <a:p>
            <a:r>
              <a:rPr lang="en-US" b="1" dirty="0"/>
              <a:t>Hardware</a:t>
            </a:r>
            <a:r>
              <a:rPr lang="en-US" dirty="0"/>
              <a:t> – Physical devices like computers, servers, and printers.</a:t>
            </a:r>
          </a:p>
          <a:p>
            <a:r>
              <a:rPr lang="en-US" b="1" dirty="0"/>
              <a:t>Software</a:t>
            </a:r>
            <a:r>
              <a:rPr lang="en-US" dirty="0"/>
              <a:t> – Programs that run on hardware, such as Microsoft Windows.</a:t>
            </a:r>
          </a:p>
          <a:p>
            <a:r>
              <a:rPr lang="en-US" b="1" dirty="0"/>
              <a:t>Data</a:t>
            </a:r>
            <a:r>
              <a:rPr lang="en-US" dirty="0"/>
              <a:t> – Information stored and processed by computers.</a:t>
            </a:r>
          </a:p>
          <a:p>
            <a:r>
              <a:rPr lang="en-US" b="1" dirty="0"/>
              <a:t>Networking</a:t>
            </a:r>
            <a:r>
              <a:rPr lang="en-US" dirty="0"/>
              <a:t> – Connections that allow devices to share information (like the Internet).</a:t>
            </a:r>
          </a:p>
          <a:p>
            <a:r>
              <a:rPr lang="en-US" b="1" dirty="0"/>
              <a:t>People &amp; Processes</a:t>
            </a:r>
            <a:r>
              <a:rPr lang="en-US" dirty="0"/>
              <a:t> – Users and rules that manage and operate IT systems.</a:t>
            </a:r>
          </a:p>
          <a:p>
            <a:pPr marL="0" indent="0">
              <a:buNone/>
            </a:pPr>
            <a:endParaRPr lang="en-US" dirty="0"/>
          </a:p>
          <a:p>
            <a:endParaRPr lang="en-IN" dirty="0"/>
          </a:p>
        </p:txBody>
      </p:sp>
    </p:spTree>
    <p:extLst>
      <p:ext uri="{BB962C8B-B14F-4D97-AF65-F5344CB8AC3E}">
        <p14:creationId xmlns:p14="http://schemas.microsoft.com/office/powerpoint/2010/main" val="3112221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74C7-9D0E-7CB7-327D-D8261D0A76D5}"/>
              </a:ext>
            </a:extLst>
          </p:cNvPr>
          <p:cNvSpPr>
            <a:spLocks noGrp="1"/>
          </p:cNvSpPr>
          <p:nvPr>
            <p:ph type="title"/>
          </p:nvPr>
        </p:nvSpPr>
        <p:spPr/>
        <p:txBody>
          <a:bodyPr>
            <a:normAutofit/>
          </a:bodyPr>
          <a:lstStyle/>
          <a:p>
            <a:r>
              <a:rPr lang="en-US" sz="3200" b="1" u="sng" dirty="0"/>
              <a:t>Database Management Systems(DBMS)</a:t>
            </a:r>
            <a:endParaRPr lang="en-IN" sz="3200" b="1" u="sng" dirty="0"/>
          </a:p>
        </p:txBody>
      </p:sp>
      <p:sp>
        <p:nvSpPr>
          <p:cNvPr id="3" name="Content Placeholder 2">
            <a:extLst>
              <a:ext uri="{FF2B5EF4-FFF2-40B4-BE49-F238E27FC236}">
                <a16:creationId xmlns:a16="http://schemas.microsoft.com/office/drawing/2014/main" id="{B953A702-E3F0-B02A-F20F-C97C998DE338}"/>
              </a:ext>
            </a:extLst>
          </p:cNvPr>
          <p:cNvSpPr>
            <a:spLocks noGrp="1"/>
          </p:cNvSpPr>
          <p:nvPr>
            <p:ph idx="1"/>
          </p:nvPr>
        </p:nvSpPr>
        <p:spPr>
          <a:xfrm>
            <a:off x="2589212" y="1671484"/>
            <a:ext cx="8915400" cy="4198374"/>
          </a:xfrm>
        </p:spPr>
        <p:txBody>
          <a:bodyPr>
            <a:normAutofit fontScale="92500" lnSpcReduction="10000"/>
          </a:bodyPr>
          <a:lstStyle/>
          <a:p>
            <a:r>
              <a:rPr lang="en-IN" b="1" dirty="0"/>
              <a:t>DBMS (Database Management System)</a:t>
            </a:r>
            <a:r>
              <a:rPr lang="en-IN" dirty="0"/>
              <a:t> is software that stores and manages data in an organized way.</a:t>
            </a:r>
          </a:p>
          <a:p>
            <a:r>
              <a:rPr lang="en-IN" b="1" dirty="0"/>
              <a:t>Examples:</a:t>
            </a:r>
          </a:p>
          <a:p>
            <a:pPr>
              <a:buFont typeface="Arial" panose="020B0604020202020204" pitchFamily="34" charset="0"/>
              <a:buChar char="•"/>
            </a:pPr>
            <a:r>
              <a:rPr lang="en-IN" dirty="0"/>
              <a:t>MySQL</a:t>
            </a:r>
          </a:p>
          <a:p>
            <a:pPr>
              <a:buFont typeface="Arial" panose="020B0604020202020204" pitchFamily="34" charset="0"/>
              <a:buChar char="•"/>
            </a:pPr>
            <a:r>
              <a:rPr lang="en-IN" dirty="0"/>
              <a:t>Oracle Database</a:t>
            </a:r>
          </a:p>
          <a:p>
            <a:pPr>
              <a:buFont typeface="Arial" panose="020B0604020202020204" pitchFamily="34" charset="0"/>
              <a:buChar char="•"/>
            </a:pPr>
            <a:r>
              <a:rPr lang="en-IN" dirty="0"/>
              <a:t>Microsoft SQL Server</a:t>
            </a:r>
          </a:p>
          <a:p>
            <a:pPr>
              <a:buFont typeface="Arial" panose="020B0604020202020204" pitchFamily="34" charset="0"/>
              <a:buChar char="•"/>
            </a:pPr>
            <a:r>
              <a:rPr lang="en-IN" dirty="0"/>
              <a:t>MongoDB</a:t>
            </a:r>
          </a:p>
          <a:p>
            <a:r>
              <a:rPr lang="en-IN" b="1" dirty="0"/>
              <a:t>Importance:</a:t>
            </a:r>
            <a:endParaRPr lang="en-IN" dirty="0"/>
          </a:p>
          <a:p>
            <a:pPr>
              <a:buFont typeface="Arial" panose="020B0604020202020204" pitchFamily="34" charset="0"/>
              <a:buChar char="•"/>
            </a:pPr>
            <a:r>
              <a:rPr lang="en-IN" dirty="0"/>
              <a:t>Keeps data safe</a:t>
            </a:r>
          </a:p>
          <a:p>
            <a:pPr>
              <a:buFont typeface="Arial" panose="020B0604020202020204" pitchFamily="34" charset="0"/>
              <a:buChar char="•"/>
            </a:pPr>
            <a:r>
              <a:rPr lang="en-IN" dirty="0"/>
              <a:t>Reduces duplication</a:t>
            </a:r>
          </a:p>
          <a:p>
            <a:pPr>
              <a:buFont typeface="Arial" panose="020B0604020202020204" pitchFamily="34" charset="0"/>
              <a:buChar char="•"/>
            </a:pPr>
            <a:r>
              <a:rPr lang="en-IN" dirty="0"/>
              <a:t>Easy and fast access</a:t>
            </a:r>
          </a:p>
          <a:p>
            <a:pPr>
              <a:buFont typeface="Arial" panose="020B0604020202020204" pitchFamily="34" charset="0"/>
              <a:buChar char="•"/>
            </a:pPr>
            <a:r>
              <a:rPr lang="en-IN" dirty="0"/>
              <a:t>Supports multiple users</a:t>
            </a:r>
          </a:p>
          <a:p>
            <a:pPr>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213707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0C795-E794-9F3D-3AAB-EE0BD0339F54}"/>
              </a:ext>
            </a:extLst>
          </p:cNvPr>
          <p:cNvSpPr>
            <a:spLocks noGrp="1"/>
          </p:cNvSpPr>
          <p:nvPr>
            <p:ph type="title"/>
          </p:nvPr>
        </p:nvSpPr>
        <p:spPr/>
        <p:txBody>
          <a:bodyPr/>
          <a:lstStyle/>
          <a:p>
            <a:r>
              <a:rPr lang="en-US" b="1" u="sng" dirty="0"/>
              <a:t>Enterprise Resource Planning</a:t>
            </a:r>
            <a:endParaRPr lang="en-IN" b="1" u="sng" dirty="0"/>
          </a:p>
        </p:txBody>
      </p:sp>
      <p:sp>
        <p:nvSpPr>
          <p:cNvPr id="3" name="Content Placeholder 2">
            <a:extLst>
              <a:ext uri="{FF2B5EF4-FFF2-40B4-BE49-F238E27FC236}">
                <a16:creationId xmlns:a16="http://schemas.microsoft.com/office/drawing/2014/main" id="{65602D77-24F7-CE62-9309-9A241BFEF896}"/>
              </a:ext>
            </a:extLst>
          </p:cNvPr>
          <p:cNvSpPr>
            <a:spLocks noGrp="1"/>
          </p:cNvSpPr>
          <p:nvPr>
            <p:ph idx="1"/>
          </p:nvPr>
        </p:nvSpPr>
        <p:spPr>
          <a:xfrm>
            <a:off x="2589212" y="1540188"/>
            <a:ext cx="8915400" cy="5067089"/>
          </a:xfrm>
        </p:spPr>
        <p:txBody>
          <a:bodyPr/>
          <a:lstStyle/>
          <a:p>
            <a:r>
              <a:rPr lang="en-US" b="1" dirty="0"/>
              <a:t>What is ERP?</a:t>
            </a:r>
          </a:p>
          <a:p>
            <a:pPr marL="0" indent="0">
              <a:buNone/>
            </a:pPr>
            <a:r>
              <a:rPr lang="en-US" b="1" dirty="0"/>
              <a:t>      ERP (Enterprise Resource Planning)</a:t>
            </a:r>
            <a:r>
              <a:rPr lang="en-US" dirty="0"/>
              <a:t> is software that helps businesses manage daily activities like finance, HR, sales, inventory, and production in one system.</a:t>
            </a:r>
          </a:p>
          <a:p>
            <a:r>
              <a:rPr lang="en-US" b="1" dirty="0"/>
              <a:t>Features of ERP:</a:t>
            </a:r>
          </a:p>
          <a:p>
            <a:pPr>
              <a:buFont typeface="Arial" panose="020B0604020202020204" pitchFamily="34" charset="0"/>
              <a:buChar char="•"/>
            </a:pPr>
            <a:r>
              <a:rPr lang="en-US" dirty="0"/>
              <a:t>Integrated system (all departments connected)</a:t>
            </a:r>
          </a:p>
          <a:p>
            <a:pPr>
              <a:buFont typeface="Arial" panose="020B0604020202020204" pitchFamily="34" charset="0"/>
              <a:buChar char="•"/>
            </a:pPr>
            <a:r>
              <a:rPr lang="en-US" dirty="0"/>
              <a:t>Real-time data updates</a:t>
            </a:r>
          </a:p>
          <a:p>
            <a:pPr>
              <a:buFont typeface="Arial" panose="020B0604020202020204" pitchFamily="34" charset="0"/>
              <a:buChar char="•"/>
            </a:pPr>
            <a:r>
              <a:rPr lang="en-US" dirty="0"/>
              <a:t>Centralized database</a:t>
            </a:r>
          </a:p>
          <a:p>
            <a:pPr>
              <a:buFont typeface="Arial" panose="020B0604020202020204" pitchFamily="34" charset="0"/>
              <a:buChar char="•"/>
            </a:pPr>
            <a:r>
              <a:rPr lang="en-US" dirty="0"/>
              <a:t>Reporting and analytics</a:t>
            </a:r>
          </a:p>
          <a:p>
            <a:pPr marL="0" indent="0">
              <a:buNone/>
            </a:pPr>
            <a:endParaRPr lang="en-US" dirty="0"/>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1555103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3CE5-1B7D-DC4C-C3D0-0149257D2CCE}"/>
              </a:ext>
            </a:extLst>
          </p:cNvPr>
          <p:cNvSpPr>
            <a:spLocks noGrp="1"/>
          </p:cNvSpPr>
          <p:nvPr>
            <p:ph type="title"/>
          </p:nvPr>
        </p:nvSpPr>
        <p:spPr>
          <a:xfrm>
            <a:off x="2592924" y="624110"/>
            <a:ext cx="8911687" cy="781903"/>
          </a:xfrm>
        </p:spPr>
        <p:txBody>
          <a:bodyPr/>
          <a:lstStyle/>
          <a:p>
            <a:r>
              <a:rPr lang="en-IN" b="1" u="sng" dirty="0"/>
              <a:t>ERP vs CRM</a:t>
            </a:r>
          </a:p>
        </p:txBody>
      </p:sp>
      <p:sp>
        <p:nvSpPr>
          <p:cNvPr id="3" name="Text Placeholder 2">
            <a:extLst>
              <a:ext uri="{FF2B5EF4-FFF2-40B4-BE49-F238E27FC236}">
                <a16:creationId xmlns:a16="http://schemas.microsoft.com/office/drawing/2014/main" id="{0076C2BE-EC88-DDE3-9CC6-FBE08472DF04}"/>
              </a:ext>
            </a:extLst>
          </p:cNvPr>
          <p:cNvSpPr>
            <a:spLocks noGrp="1"/>
          </p:cNvSpPr>
          <p:nvPr>
            <p:ph type="body" idx="1"/>
          </p:nvPr>
        </p:nvSpPr>
        <p:spPr>
          <a:xfrm>
            <a:off x="2939373" y="1406013"/>
            <a:ext cx="3992732" cy="563462"/>
          </a:xfrm>
        </p:spPr>
        <p:txBody>
          <a:bodyPr/>
          <a:lstStyle/>
          <a:p>
            <a:r>
              <a:rPr lang="en-IN" b="1" dirty="0"/>
              <a:t>ERP</a:t>
            </a:r>
          </a:p>
        </p:txBody>
      </p:sp>
      <p:sp>
        <p:nvSpPr>
          <p:cNvPr id="4" name="Content Placeholder 3">
            <a:extLst>
              <a:ext uri="{FF2B5EF4-FFF2-40B4-BE49-F238E27FC236}">
                <a16:creationId xmlns:a16="http://schemas.microsoft.com/office/drawing/2014/main" id="{4759479E-55C6-4578-E780-F2A88997614B}"/>
              </a:ext>
            </a:extLst>
          </p:cNvPr>
          <p:cNvSpPr>
            <a:spLocks noGrp="1"/>
          </p:cNvSpPr>
          <p:nvPr>
            <p:ph sz="half" idx="2"/>
          </p:nvPr>
        </p:nvSpPr>
        <p:spPr>
          <a:xfrm>
            <a:off x="2163098" y="2084439"/>
            <a:ext cx="4769008" cy="3818587"/>
          </a:xfrm>
        </p:spPr>
        <p:txBody>
          <a:bodyPr>
            <a:normAutofit lnSpcReduction="10000"/>
          </a:bodyPr>
          <a:lstStyle/>
          <a:p>
            <a:r>
              <a:rPr lang="en-US" dirty="0"/>
              <a:t>ERP is a business management system that helps organizations manage and integrate their core internal processes in one central system. It connects departments such as finance, human resources, production, inventory, and supply chain so that data flows smoothly across the organization. ERP improves efficiency, reduces duplication of work, and helps in better decision-making by providing real-time business information.</a:t>
            </a:r>
          </a:p>
          <a:p>
            <a:r>
              <a:rPr lang="en-US" dirty="0"/>
              <a:t>Examples: SAP ERP, Oracle ERP, Microsoft Dynamics 365</a:t>
            </a:r>
          </a:p>
          <a:p>
            <a:endParaRPr lang="en-IN" dirty="0"/>
          </a:p>
        </p:txBody>
      </p:sp>
      <p:sp>
        <p:nvSpPr>
          <p:cNvPr id="5" name="Text Placeholder 4">
            <a:extLst>
              <a:ext uri="{FF2B5EF4-FFF2-40B4-BE49-F238E27FC236}">
                <a16:creationId xmlns:a16="http://schemas.microsoft.com/office/drawing/2014/main" id="{93C50CF4-E966-8DA5-E7A5-604DCF996B45}"/>
              </a:ext>
            </a:extLst>
          </p:cNvPr>
          <p:cNvSpPr>
            <a:spLocks noGrp="1"/>
          </p:cNvSpPr>
          <p:nvPr>
            <p:ph type="body" sz="quarter" idx="3"/>
          </p:nvPr>
        </p:nvSpPr>
        <p:spPr>
          <a:xfrm>
            <a:off x="7418139" y="1393213"/>
            <a:ext cx="3999001" cy="576262"/>
          </a:xfrm>
        </p:spPr>
        <p:txBody>
          <a:bodyPr/>
          <a:lstStyle/>
          <a:p>
            <a:r>
              <a:rPr lang="en-IN" b="1" dirty="0"/>
              <a:t>CRM</a:t>
            </a:r>
          </a:p>
        </p:txBody>
      </p:sp>
      <p:sp>
        <p:nvSpPr>
          <p:cNvPr id="6" name="Content Placeholder 5">
            <a:extLst>
              <a:ext uri="{FF2B5EF4-FFF2-40B4-BE49-F238E27FC236}">
                <a16:creationId xmlns:a16="http://schemas.microsoft.com/office/drawing/2014/main" id="{B310B274-D039-B14C-3332-949E19D879B0}"/>
              </a:ext>
            </a:extLst>
          </p:cNvPr>
          <p:cNvSpPr>
            <a:spLocks noGrp="1"/>
          </p:cNvSpPr>
          <p:nvPr>
            <p:ph sz="quarter" idx="4"/>
          </p:nvPr>
        </p:nvSpPr>
        <p:spPr>
          <a:xfrm>
            <a:off x="7166957" y="2081211"/>
            <a:ext cx="4338674" cy="3818587"/>
          </a:xfrm>
        </p:spPr>
        <p:txBody>
          <a:bodyPr>
            <a:normAutofit lnSpcReduction="10000"/>
          </a:bodyPr>
          <a:lstStyle/>
          <a:p>
            <a:r>
              <a:rPr lang="en-US" dirty="0"/>
              <a:t>CRM is a system used to manage a company’s interactions with current and potential customers. It helps businesses track customer information, manage sales activities, monitor marketing campaigns, and provide better customer service. CRM focuses on improving customer satisfaction, increasing sales, and building long-term customer relationships.</a:t>
            </a:r>
          </a:p>
          <a:p>
            <a:r>
              <a:rPr lang="en-US" dirty="0"/>
              <a:t>Examples: Salesforce, Zoho CRM, </a:t>
            </a:r>
          </a:p>
          <a:p>
            <a:endParaRPr lang="en-IN" dirty="0"/>
          </a:p>
        </p:txBody>
      </p:sp>
    </p:spTree>
    <p:extLst>
      <p:ext uri="{BB962C8B-B14F-4D97-AF65-F5344CB8AC3E}">
        <p14:creationId xmlns:p14="http://schemas.microsoft.com/office/powerpoint/2010/main" val="293704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99F9B6-DCEF-4ADA-3A9F-6DFAD58489DA}"/>
              </a:ext>
            </a:extLst>
          </p:cNvPr>
          <p:cNvSpPr txBox="1"/>
          <p:nvPr/>
        </p:nvSpPr>
        <p:spPr>
          <a:xfrm>
            <a:off x="1425677" y="1307800"/>
            <a:ext cx="10471355" cy="4801314"/>
          </a:xfrm>
          <a:prstGeom prst="rect">
            <a:avLst/>
          </a:prstGeom>
          <a:noFill/>
        </p:spPr>
        <p:txBody>
          <a:bodyPr wrap="square">
            <a:spAutoFit/>
          </a:bodyPr>
          <a:lstStyle/>
          <a:p>
            <a:pPr marL="285750" indent="-285750">
              <a:buFont typeface="Wingdings" panose="05000000000000000000" pitchFamily="2" charset="2"/>
              <a:buChar char="q"/>
            </a:pPr>
            <a:r>
              <a:rPr lang="en-US" b="1" u="sng" dirty="0"/>
              <a:t>Structured Data</a:t>
            </a:r>
          </a:p>
          <a:p>
            <a:r>
              <a:rPr lang="en-US" b="1" dirty="0"/>
              <a:t> </a:t>
            </a:r>
            <a:r>
              <a:rPr lang="en-US" dirty="0"/>
              <a:t>Structured data is highly organized data stored in a fixed format, usually in rows and columns. It is easy to search and analyze using databases.</a:t>
            </a:r>
            <a:br>
              <a:rPr lang="en-US" dirty="0"/>
            </a:br>
            <a:r>
              <a:rPr lang="en-US" dirty="0"/>
              <a:t>Example: Data stored in tables using MySQL or Oracle Database (e.g., student records, bank details).</a:t>
            </a:r>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r>
              <a:rPr lang="en-US" b="1" u="sng" dirty="0"/>
              <a:t>Semi-Structured Data</a:t>
            </a:r>
          </a:p>
          <a:p>
            <a:r>
              <a:rPr lang="en-US" dirty="0"/>
              <a:t>  Semi-structured data does not follow a strict table format but contains tags or markers to organize information. It is partly organized.</a:t>
            </a:r>
            <a:br>
              <a:rPr lang="en-US" dirty="0"/>
            </a:br>
            <a:r>
              <a:rPr lang="en-US" dirty="0"/>
              <a:t>Example: XML and JSON files used in web applications like MongoDB.</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b="1" u="sng" dirty="0"/>
              <a:t>Unstructured Data</a:t>
            </a:r>
          </a:p>
          <a:p>
            <a:r>
              <a:rPr lang="en-US" dirty="0"/>
              <a:t>  Unstructured data has no predefined format or organization. It is difficult to store in traditional databases.</a:t>
            </a:r>
            <a:br>
              <a:rPr lang="en-US" dirty="0"/>
            </a:br>
            <a:r>
              <a:rPr lang="en-US" dirty="0"/>
              <a:t>Example: Images, videos, emails, social media posts (e.g., content shared on Facebook).</a:t>
            </a:r>
          </a:p>
          <a:p>
            <a:pPr>
              <a:buNone/>
            </a:pPr>
            <a:endParaRPr lang="en-US" dirty="0"/>
          </a:p>
          <a:p>
            <a:pPr>
              <a:buNone/>
            </a:pPr>
            <a:endParaRPr lang="en-US" dirty="0"/>
          </a:p>
        </p:txBody>
      </p:sp>
    </p:spTree>
    <p:extLst>
      <p:ext uri="{BB962C8B-B14F-4D97-AF65-F5344CB8AC3E}">
        <p14:creationId xmlns:p14="http://schemas.microsoft.com/office/powerpoint/2010/main" val="310768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7746D-947B-FBE9-5B81-CEF7EFE571BC}"/>
              </a:ext>
            </a:extLst>
          </p:cNvPr>
          <p:cNvSpPr>
            <a:spLocks noGrp="1"/>
          </p:cNvSpPr>
          <p:nvPr>
            <p:ph type="title"/>
          </p:nvPr>
        </p:nvSpPr>
        <p:spPr/>
        <p:txBody>
          <a:bodyPr/>
          <a:lstStyle/>
          <a:p>
            <a:r>
              <a:rPr lang="en-IN" b="1" u="sng" dirty="0"/>
              <a:t>Data Lifetime Management(DLM)</a:t>
            </a:r>
          </a:p>
        </p:txBody>
      </p:sp>
      <p:pic>
        <p:nvPicPr>
          <p:cNvPr id="5" name="Content Placeholder 4">
            <a:extLst>
              <a:ext uri="{FF2B5EF4-FFF2-40B4-BE49-F238E27FC236}">
                <a16:creationId xmlns:a16="http://schemas.microsoft.com/office/drawing/2014/main" id="{84FB21FA-FAC4-2BD2-2D5C-1B2CF507DC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97978" y="1777206"/>
            <a:ext cx="2802193" cy="2998839"/>
          </a:xfrm>
          <a:prstGeom prst="rect">
            <a:avLst/>
          </a:prstGeom>
        </p:spPr>
      </p:pic>
      <p:sp>
        <p:nvSpPr>
          <p:cNvPr id="7" name="TextBox 6">
            <a:extLst>
              <a:ext uri="{FF2B5EF4-FFF2-40B4-BE49-F238E27FC236}">
                <a16:creationId xmlns:a16="http://schemas.microsoft.com/office/drawing/2014/main" id="{0B1F046D-ECE3-167A-5A18-8B0A8AA69A48}"/>
              </a:ext>
            </a:extLst>
          </p:cNvPr>
          <p:cNvSpPr txBox="1"/>
          <p:nvPr/>
        </p:nvSpPr>
        <p:spPr>
          <a:xfrm>
            <a:off x="2289955" y="1777206"/>
            <a:ext cx="5693839" cy="3970318"/>
          </a:xfrm>
          <a:prstGeom prst="rect">
            <a:avLst/>
          </a:prstGeom>
          <a:noFill/>
        </p:spPr>
        <p:txBody>
          <a:bodyPr wrap="square">
            <a:spAutoFit/>
          </a:bodyPr>
          <a:lstStyle/>
          <a:p>
            <a:pPr>
              <a:buNone/>
            </a:pPr>
            <a:r>
              <a:rPr lang="en-US" sz="1400" dirty="0"/>
              <a:t>       Data Lifecycle Management is a process that manages data from the time it is created until it is deleted or archived. It ensures that data is properly stored, used, protected, and disposed of according to business needs and legal requirements.</a:t>
            </a:r>
          </a:p>
          <a:p>
            <a:pPr>
              <a:buNone/>
            </a:pPr>
            <a:r>
              <a:rPr lang="en-US" sz="1400" b="1" u="sng" dirty="0"/>
              <a:t>Main Stages of Data Lifecycle:</a:t>
            </a:r>
          </a:p>
          <a:p>
            <a:pPr>
              <a:buFont typeface="+mj-lt"/>
              <a:buAutoNum type="arabicPeriod"/>
            </a:pPr>
            <a:r>
              <a:rPr lang="en-US" sz="1400" b="1" dirty="0"/>
              <a:t>Data Creation</a:t>
            </a:r>
            <a:r>
              <a:rPr lang="en-US" sz="1400" dirty="0"/>
              <a:t> – Data is generated or collected (e.g., customer records, transactions).</a:t>
            </a:r>
          </a:p>
          <a:p>
            <a:pPr>
              <a:buFont typeface="+mj-lt"/>
              <a:buAutoNum type="arabicPeriod"/>
            </a:pPr>
            <a:r>
              <a:rPr lang="en-US" sz="1400" b="1" dirty="0"/>
              <a:t>Data Storage</a:t>
            </a:r>
            <a:r>
              <a:rPr lang="en-US" sz="1400" dirty="0"/>
              <a:t> – Data is stored securely in databases or storage systems like Oracle Database.</a:t>
            </a:r>
          </a:p>
          <a:p>
            <a:pPr>
              <a:buFont typeface="+mj-lt"/>
              <a:buAutoNum type="arabicPeriod"/>
            </a:pPr>
            <a:r>
              <a:rPr lang="en-US" sz="1400" b="1" dirty="0"/>
              <a:t>Data Usage</a:t>
            </a:r>
            <a:r>
              <a:rPr lang="en-US" sz="1400" dirty="0"/>
              <a:t> – Data is accessed and used for business operations, analysis, and decision-making.</a:t>
            </a:r>
          </a:p>
          <a:p>
            <a:pPr>
              <a:buFont typeface="+mj-lt"/>
              <a:buAutoNum type="arabicPeriod"/>
            </a:pPr>
            <a:r>
              <a:rPr lang="en-US" sz="1400" b="1" dirty="0"/>
              <a:t>Data Sharing</a:t>
            </a:r>
            <a:r>
              <a:rPr lang="en-US" sz="1400" dirty="0"/>
              <a:t> – Data may be shared between departments or systems.</a:t>
            </a:r>
          </a:p>
          <a:p>
            <a:pPr>
              <a:buFont typeface="+mj-lt"/>
              <a:buAutoNum type="arabicPeriod"/>
            </a:pPr>
            <a:r>
              <a:rPr lang="en-US" sz="1400" b="1" dirty="0"/>
              <a:t>Data Archiving</a:t>
            </a:r>
            <a:r>
              <a:rPr lang="en-US" sz="1400" dirty="0"/>
              <a:t> – Old or inactive data is stored for long-term retention.</a:t>
            </a:r>
          </a:p>
          <a:p>
            <a:pPr>
              <a:buFont typeface="+mj-lt"/>
              <a:buAutoNum type="arabicPeriod"/>
            </a:pPr>
            <a:r>
              <a:rPr lang="en-US" sz="1400" b="1" dirty="0"/>
              <a:t>Data Deletion</a:t>
            </a:r>
            <a:r>
              <a:rPr lang="en-US" sz="1400" dirty="0"/>
              <a:t> – Data is permanently removed when no longer needed.</a:t>
            </a:r>
          </a:p>
        </p:txBody>
      </p:sp>
    </p:spTree>
    <p:extLst>
      <p:ext uri="{BB962C8B-B14F-4D97-AF65-F5344CB8AC3E}">
        <p14:creationId xmlns:p14="http://schemas.microsoft.com/office/powerpoint/2010/main" val="1288442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479A-9799-9A52-488A-48BD45063A06}"/>
              </a:ext>
            </a:extLst>
          </p:cNvPr>
          <p:cNvSpPr>
            <a:spLocks noGrp="1"/>
          </p:cNvSpPr>
          <p:nvPr>
            <p:ph type="title"/>
          </p:nvPr>
        </p:nvSpPr>
        <p:spPr>
          <a:xfrm>
            <a:off x="1759975" y="275303"/>
            <a:ext cx="9744638" cy="1111045"/>
          </a:xfrm>
        </p:spPr>
        <p:txBody>
          <a:bodyPr/>
          <a:lstStyle/>
          <a:p>
            <a:r>
              <a:rPr lang="en-IN" b="1" u="sng" dirty="0"/>
              <a:t>Responsibilities of  a Business Analysts</a:t>
            </a:r>
            <a:r>
              <a:rPr lang="en-IN" dirty="0"/>
              <a:t>:</a:t>
            </a:r>
          </a:p>
        </p:txBody>
      </p:sp>
      <p:sp>
        <p:nvSpPr>
          <p:cNvPr id="3" name="Content Placeholder 2">
            <a:extLst>
              <a:ext uri="{FF2B5EF4-FFF2-40B4-BE49-F238E27FC236}">
                <a16:creationId xmlns:a16="http://schemas.microsoft.com/office/drawing/2014/main" id="{787CD069-55AD-CCCB-4847-763611A327CE}"/>
              </a:ext>
            </a:extLst>
          </p:cNvPr>
          <p:cNvSpPr>
            <a:spLocks noGrp="1"/>
          </p:cNvSpPr>
          <p:nvPr>
            <p:ph idx="1"/>
          </p:nvPr>
        </p:nvSpPr>
        <p:spPr>
          <a:xfrm>
            <a:off x="1759975" y="1081548"/>
            <a:ext cx="9744638" cy="5373329"/>
          </a:xfrm>
        </p:spPr>
        <p:txBody>
          <a:bodyPr>
            <a:noAutofit/>
          </a:bodyPr>
          <a:lstStyle/>
          <a:p>
            <a:pPr marL="0" indent="0">
              <a:buNone/>
            </a:pPr>
            <a:r>
              <a:rPr lang="en-US" sz="1600" dirty="0"/>
              <a:t>         A Business Analyst (BA) acts as a bridge between business needs and technical solutions. Their main responsibilities include:</a:t>
            </a:r>
          </a:p>
          <a:p>
            <a:r>
              <a:rPr lang="en-US" sz="1600" b="1" dirty="0"/>
              <a:t>Understanding Business Needs</a:t>
            </a:r>
            <a:br>
              <a:rPr lang="en-US" sz="1600" dirty="0"/>
            </a:br>
            <a:r>
              <a:rPr lang="en-US" sz="1600" dirty="0"/>
              <a:t>Identifies business problems and gathers requirements from stakeholders through meetings and discussions.</a:t>
            </a:r>
          </a:p>
          <a:p>
            <a:r>
              <a:rPr lang="en-US" sz="1600" b="1" dirty="0"/>
              <a:t>Requirement Analysis &amp; Documentation</a:t>
            </a:r>
            <a:br>
              <a:rPr lang="en-US" sz="1600" dirty="0"/>
            </a:br>
            <a:r>
              <a:rPr lang="en-US" sz="1600" dirty="0"/>
              <a:t>Analyzes and documents functional and non-functional requirements using tools like Microsoft Visio or Jira.</a:t>
            </a:r>
          </a:p>
          <a:p>
            <a:r>
              <a:rPr lang="en-US" sz="1600" b="1" dirty="0"/>
              <a:t>Stakeholder Communication</a:t>
            </a:r>
            <a:br>
              <a:rPr lang="en-US" sz="1600" dirty="0"/>
            </a:br>
            <a:r>
              <a:rPr lang="en-US" sz="1600" dirty="0"/>
              <a:t>Communicates between clients, management, and the development team to ensure everyone understands project goals.</a:t>
            </a:r>
          </a:p>
          <a:p>
            <a:r>
              <a:rPr lang="en-US" sz="1600" b="1" dirty="0"/>
              <a:t>Process Modeling</a:t>
            </a:r>
            <a:br>
              <a:rPr lang="en-US" sz="1600" dirty="0"/>
            </a:br>
            <a:r>
              <a:rPr lang="en-US" sz="1600" dirty="0"/>
              <a:t>Creates business process models, flowcharts, and diagrams to improve workflows.</a:t>
            </a:r>
          </a:p>
          <a:p>
            <a:r>
              <a:rPr lang="en-US" sz="1600" b="1" dirty="0"/>
              <a:t>Solution Evaluation</a:t>
            </a:r>
            <a:br>
              <a:rPr lang="en-US" sz="1600" dirty="0"/>
            </a:br>
            <a:r>
              <a:rPr lang="en-US" sz="1600" dirty="0"/>
              <a:t>Evaluates proposed solutions to ensure they meet business objectives and deliver value.</a:t>
            </a:r>
          </a:p>
          <a:p>
            <a:r>
              <a:rPr lang="en-US" sz="1600" b="1" dirty="0"/>
              <a:t>Testing &amp; Validation Support</a:t>
            </a:r>
            <a:br>
              <a:rPr lang="en-US" sz="1600" dirty="0"/>
            </a:br>
            <a:r>
              <a:rPr lang="en-US" sz="1600" dirty="0"/>
              <a:t>Assists in user acceptance testing (UAT) to verify that the system meets requirements.</a:t>
            </a:r>
          </a:p>
          <a:p>
            <a:r>
              <a:rPr lang="en-US" sz="1600" b="1" dirty="0"/>
              <a:t>Continuous Improvement</a:t>
            </a:r>
            <a:br>
              <a:rPr lang="en-US" sz="1600" dirty="0"/>
            </a:br>
            <a:r>
              <a:rPr lang="en-US" sz="1600" dirty="0"/>
              <a:t>Suggests improvements to enhance efficiency and productivity.</a:t>
            </a:r>
          </a:p>
          <a:p>
            <a:endParaRPr lang="en-US" sz="1400" dirty="0"/>
          </a:p>
          <a:p>
            <a:endParaRPr lang="en-US" sz="1600" dirty="0"/>
          </a:p>
          <a:p>
            <a:endParaRPr lang="en-IN" sz="1600" dirty="0"/>
          </a:p>
        </p:txBody>
      </p:sp>
    </p:spTree>
    <p:extLst>
      <p:ext uri="{BB962C8B-B14F-4D97-AF65-F5344CB8AC3E}">
        <p14:creationId xmlns:p14="http://schemas.microsoft.com/office/powerpoint/2010/main" val="1507486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0DCF-D7BF-163E-E489-BDD79906EFD5}"/>
              </a:ext>
            </a:extLst>
          </p:cNvPr>
          <p:cNvSpPr>
            <a:spLocks noGrp="1"/>
          </p:cNvSpPr>
          <p:nvPr>
            <p:ph type="title"/>
          </p:nvPr>
        </p:nvSpPr>
        <p:spPr>
          <a:xfrm>
            <a:off x="2592925" y="624110"/>
            <a:ext cx="8911687" cy="929387"/>
          </a:xfrm>
        </p:spPr>
        <p:txBody>
          <a:bodyPr/>
          <a:lstStyle/>
          <a:p>
            <a:r>
              <a:rPr lang="en-IN" b="1" u="sng" dirty="0"/>
              <a:t>Business Analysis Methodologies:</a:t>
            </a:r>
          </a:p>
        </p:txBody>
      </p:sp>
      <p:sp>
        <p:nvSpPr>
          <p:cNvPr id="3" name="Content Placeholder 2">
            <a:extLst>
              <a:ext uri="{FF2B5EF4-FFF2-40B4-BE49-F238E27FC236}">
                <a16:creationId xmlns:a16="http://schemas.microsoft.com/office/drawing/2014/main" id="{187FB61B-367B-CE2C-E51C-FE380561D56E}"/>
              </a:ext>
            </a:extLst>
          </p:cNvPr>
          <p:cNvSpPr>
            <a:spLocks noGrp="1"/>
          </p:cNvSpPr>
          <p:nvPr>
            <p:ph idx="1"/>
          </p:nvPr>
        </p:nvSpPr>
        <p:spPr>
          <a:xfrm>
            <a:off x="2589212" y="1553498"/>
            <a:ext cx="8915400" cy="3421626"/>
          </a:xfrm>
        </p:spPr>
        <p:txBody>
          <a:bodyPr>
            <a:normAutofit lnSpcReduction="10000"/>
          </a:bodyPr>
          <a:lstStyle/>
          <a:p>
            <a:r>
              <a:rPr lang="en-US" b="1" u="sng" dirty="0"/>
              <a:t>Agile Methodology</a:t>
            </a:r>
          </a:p>
          <a:p>
            <a:pPr marL="0" indent="0">
              <a:buNone/>
            </a:pPr>
            <a:r>
              <a:rPr lang="en-US" dirty="0"/>
              <a:t>   Agile is a flexible and iterative approach where work is completed in small parts with continuous feedback. It allows changes at any stage and involves regular collaboration with stakeholders.</a:t>
            </a:r>
            <a:br>
              <a:rPr lang="en-US" dirty="0"/>
            </a:br>
            <a:r>
              <a:rPr lang="en-US" dirty="0"/>
              <a:t>Example frameworks: Scrum, Kanban.</a:t>
            </a:r>
          </a:p>
          <a:p>
            <a:pPr marL="0" indent="0">
              <a:buNone/>
            </a:pPr>
            <a:br>
              <a:rPr lang="en-US" dirty="0"/>
            </a:br>
            <a:endParaRPr lang="en-US" dirty="0"/>
          </a:p>
          <a:p>
            <a:r>
              <a:rPr lang="en-US" b="1" u="sng" dirty="0"/>
              <a:t>Waterfall Methodology</a:t>
            </a:r>
          </a:p>
          <a:p>
            <a:pPr marL="0" indent="0">
              <a:buNone/>
            </a:pPr>
            <a:r>
              <a:rPr lang="en-US" dirty="0"/>
              <a:t>   Waterfall is a linear and step-by-step approach where each phase (requirements, design, development, testing) is completed before moving to the next. Changes are difficult once the project starts.</a:t>
            </a:r>
          </a:p>
          <a:p>
            <a:endParaRPr lang="en-IN" dirty="0"/>
          </a:p>
        </p:txBody>
      </p:sp>
    </p:spTree>
    <p:extLst>
      <p:ext uri="{BB962C8B-B14F-4D97-AF65-F5344CB8AC3E}">
        <p14:creationId xmlns:p14="http://schemas.microsoft.com/office/powerpoint/2010/main" val="3250512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7AC76-BED2-1846-8E7C-7B54B8ED6D40}"/>
              </a:ext>
            </a:extLst>
          </p:cNvPr>
          <p:cNvSpPr>
            <a:spLocks noGrp="1"/>
          </p:cNvSpPr>
          <p:nvPr>
            <p:ph type="title"/>
          </p:nvPr>
        </p:nvSpPr>
        <p:spPr>
          <a:xfrm>
            <a:off x="1700981" y="108156"/>
            <a:ext cx="9803631" cy="698090"/>
          </a:xfrm>
        </p:spPr>
        <p:txBody>
          <a:bodyPr>
            <a:normAutofit/>
          </a:bodyPr>
          <a:lstStyle/>
          <a:p>
            <a:r>
              <a:rPr lang="en-IN" sz="3200" b="1" u="sng" dirty="0"/>
              <a:t>Role of BA in Waterfall</a:t>
            </a:r>
          </a:p>
        </p:txBody>
      </p:sp>
      <p:sp>
        <p:nvSpPr>
          <p:cNvPr id="3" name="Content Placeholder 2">
            <a:extLst>
              <a:ext uri="{FF2B5EF4-FFF2-40B4-BE49-F238E27FC236}">
                <a16:creationId xmlns:a16="http://schemas.microsoft.com/office/drawing/2014/main" id="{D67E2F4C-A898-0743-309C-7AD11D0E98C3}"/>
              </a:ext>
            </a:extLst>
          </p:cNvPr>
          <p:cNvSpPr>
            <a:spLocks noGrp="1"/>
          </p:cNvSpPr>
          <p:nvPr>
            <p:ph idx="1"/>
          </p:nvPr>
        </p:nvSpPr>
        <p:spPr>
          <a:xfrm>
            <a:off x="1602658" y="727587"/>
            <a:ext cx="10343536" cy="4827639"/>
          </a:xfrm>
        </p:spPr>
        <p:txBody>
          <a:bodyPr>
            <a:noAutofit/>
          </a:bodyPr>
          <a:lstStyle/>
          <a:p>
            <a:r>
              <a:rPr lang="en-US" sz="1400" b="1" dirty="0"/>
              <a:t>Main Responsibilities:</a:t>
            </a:r>
            <a:endParaRPr lang="en-US" sz="1400" dirty="0"/>
          </a:p>
          <a:p>
            <a:pPr>
              <a:buFont typeface="Arial" panose="020B0604020202020204" pitchFamily="34" charset="0"/>
              <a:buChar char="•"/>
            </a:pPr>
            <a:r>
              <a:rPr lang="en-US" sz="1400" dirty="0"/>
              <a:t>Gather and analyze detailed business requirements</a:t>
            </a:r>
          </a:p>
          <a:p>
            <a:pPr>
              <a:buFont typeface="Arial" panose="020B0604020202020204" pitchFamily="34" charset="0"/>
              <a:buChar char="•"/>
            </a:pPr>
            <a:r>
              <a:rPr lang="en-US" sz="1400" dirty="0"/>
              <a:t>Prepare clear documentation (SRS – Software Requirement Specification)</a:t>
            </a:r>
          </a:p>
          <a:p>
            <a:pPr>
              <a:buFont typeface="Arial" panose="020B0604020202020204" pitchFamily="34" charset="0"/>
              <a:buChar char="•"/>
            </a:pPr>
            <a:r>
              <a:rPr lang="en-US" sz="1400" dirty="0"/>
              <a:t>Communicate requirements to developers and stakeholders</a:t>
            </a:r>
          </a:p>
          <a:p>
            <a:pPr>
              <a:buFont typeface="Arial" panose="020B0604020202020204" pitchFamily="34" charset="0"/>
              <a:buChar char="•"/>
            </a:pPr>
            <a:r>
              <a:rPr lang="en-US" sz="1400" dirty="0"/>
              <a:t>Ensure requirements are approved before moving to the next phase</a:t>
            </a:r>
          </a:p>
          <a:p>
            <a:pPr>
              <a:buFont typeface="Arial" panose="020B0604020202020204" pitchFamily="34" charset="0"/>
              <a:buChar char="•"/>
            </a:pPr>
            <a:r>
              <a:rPr lang="en-US" sz="1400" dirty="0"/>
              <a:t>Support testing by validating that the final product matches the documented requirements</a:t>
            </a:r>
          </a:p>
          <a:p>
            <a:pPr>
              <a:buFont typeface="Arial" panose="020B0604020202020204" pitchFamily="34" charset="0"/>
              <a:buChar char="•"/>
            </a:pPr>
            <a:r>
              <a:rPr lang="en-US" sz="1400" dirty="0"/>
              <a:t>The BA focuses mainly on planning and documentation since changes later are difficult.</a:t>
            </a:r>
            <a:br>
              <a:rPr lang="en-US" sz="1400" dirty="0"/>
            </a:br>
            <a:endParaRPr lang="en-US" sz="1400" dirty="0"/>
          </a:p>
          <a:p>
            <a:r>
              <a:rPr lang="en-US" sz="1400" b="1" dirty="0"/>
              <a:t>Advantages of Waterfall</a:t>
            </a:r>
          </a:p>
          <a:p>
            <a:pPr>
              <a:buFont typeface="Arial" panose="020B0604020202020204" pitchFamily="34" charset="0"/>
              <a:buChar char="•"/>
            </a:pPr>
            <a:r>
              <a:rPr lang="en-US" sz="1400" dirty="0"/>
              <a:t>Simple and easy to understand</a:t>
            </a:r>
          </a:p>
          <a:p>
            <a:pPr>
              <a:buFont typeface="Arial" panose="020B0604020202020204" pitchFamily="34" charset="0"/>
              <a:buChar char="•"/>
            </a:pPr>
            <a:r>
              <a:rPr lang="en-US" sz="1400" dirty="0"/>
              <a:t>Clear structure with defined stages</a:t>
            </a:r>
          </a:p>
          <a:p>
            <a:pPr>
              <a:buFont typeface="Arial" panose="020B0604020202020204" pitchFamily="34" charset="0"/>
              <a:buChar char="•"/>
            </a:pPr>
            <a:r>
              <a:rPr lang="en-US" sz="1400" dirty="0"/>
              <a:t>Well-documented requirements</a:t>
            </a:r>
          </a:p>
          <a:p>
            <a:pPr marL="0" indent="0">
              <a:buNone/>
            </a:pPr>
            <a:endParaRPr lang="en-US" sz="1400" dirty="0"/>
          </a:p>
          <a:p>
            <a:r>
              <a:rPr lang="en-US" sz="1400" b="1" dirty="0"/>
              <a:t>Disadvantages of Waterfall</a:t>
            </a:r>
          </a:p>
          <a:p>
            <a:pPr>
              <a:buFont typeface="Arial" panose="020B0604020202020204" pitchFamily="34" charset="0"/>
              <a:buChar char="•"/>
            </a:pPr>
            <a:r>
              <a:rPr lang="en-US" sz="1400" dirty="0"/>
              <a:t>Not flexible to changes</a:t>
            </a:r>
          </a:p>
          <a:p>
            <a:pPr>
              <a:buFont typeface="Arial" panose="020B0604020202020204" pitchFamily="34" charset="0"/>
              <a:buChar char="•"/>
            </a:pPr>
            <a:r>
              <a:rPr lang="en-US" sz="1400" dirty="0"/>
              <a:t>Problems may be found late (during testing phase)</a:t>
            </a:r>
          </a:p>
          <a:p>
            <a:pPr>
              <a:buFont typeface="Arial" panose="020B0604020202020204" pitchFamily="34" charset="0"/>
              <a:buChar char="•"/>
            </a:pPr>
            <a:r>
              <a:rPr lang="en-US" sz="1400" dirty="0"/>
              <a:t>Customer feedback comes very late.</a:t>
            </a:r>
          </a:p>
          <a:p>
            <a:endParaRPr lang="en-IN" sz="1400" dirty="0"/>
          </a:p>
        </p:txBody>
      </p:sp>
    </p:spTree>
    <p:extLst>
      <p:ext uri="{BB962C8B-B14F-4D97-AF65-F5344CB8AC3E}">
        <p14:creationId xmlns:p14="http://schemas.microsoft.com/office/powerpoint/2010/main" val="69256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1564E-48BA-69DE-AA99-358107C3B3D6}"/>
              </a:ext>
            </a:extLst>
          </p:cNvPr>
          <p:cNvSpPr>
            <a:spLocks noGrp="1"/>
          </p:cNvSpPr>
          <p:nvPr>
            <p:ph type="title"/>
          </p:nvPr>
        </p:nvSpPr>
        <p:spPr>
          <a:xfrm>
            <a:off x="1717854" y="0"/>
            <a:ext cx="8911687" cy="619432"/>
          </a:xfrm>
        </p:spPr>
        <p:txBody>
          <a:bodyPr>
            <a:normAutofit/>
          </a:bodyPr>
          <a:lstStyle/>
          <a:p>
            <a:r>
              <a:rPr lang="en-IN" sz="3200" b="1" u="sng" dirty="0"/>
              <a:t>Role of BA in Agile</a:t>
            </a:r>
          </a:p>
        </p:txBody>
      </p:sp>
      <p:sp>
        <p:nvSpPr>
          <p:cNvPr id="3" name="Content Placeholder 2">
            <a:extLst>
              <a:ext uri="{FF2B5EF4-FFF2-40B4-BE49-F238E27FC236}">
                <a16:creationId xmlns:a16="http://schemas.microsoft.com/office/drawing/2014/main" id="{A81A2FE4-979B-909D-8975-7EF51229B752}"/>
              </a:ext>
            </a:extLst>
          </p:cNvPr>
          <p:cNvSpPr>
            <a:spLocks noGrp="1"/>
          </p:cNvSpPr>
          <p:nvPr>
            <p:ph idx="1"/>
          </p:nvPr>
        </p:nvSpPr>
        <p:spPr>
          <a:xfrm>
            <a:off x="1832128" y="717755"/>
            <a:ext cx="8915400" cy="4532671"/>
          </a:xfrm>
        </p:spPr>
        <p:txBody>
          <a:bodyPr>
            <a:normAutofit fontScale="25000" lnSpcReduction="20000"/>
          </a:bodyPr>
          <a:lstStyle/>
          <a:p>
            <a:pPr marL="0" indent="0">
              <a:buNone/>
            </a:pPr>
            <a:r>
              <a:rPr lang="en-US" sz="5600" dirty="0"/>
              <a:t>      In </a:t>
            </a:r>
            <a:r>
              <a:rPr lang="en-US" sz="5600" b="1" dirty="0"/>
              <a:t>Agile methodology</a:t>
            </a:r>
            <a:r>
              <a:rPr lang="en-US" sz="5600" dirty="0"/>
              <a:t>, the Business Analyst works continuously throughout the project because requirements can change at any time.</a:t>
            </a:r>
          </a:p>
          <a:p>
            <a:pPr marL="0" indent="0">
              <a:buNone/>
            </a:pPr>
            <a:endParaRPr lang="en-US" sz="5600" dirty="0"/>
          </a:p>
          <a:p>
            <a:r>
              <a:rPr lang="en-US" sz="6400" b="1" u="sng" dirty="0"/>
              <a:t>Main Responsibilities:</a:t>
            </a:r>
            <a:endParaRPr lang="en-US" sz="6400" u="sng" dirty="0"/>
          </a:p>
          <a:p>
            <a:pPr>
              <a:buFont typeface="Arial" panose="020B0604020202020204" pitchFamily="34" charset="0"/>
              <a:buChar char="•"/>
            </a:pPr>
            <a:r>
              <a:rPr lang="en-US" sz="5600" dirty="0"/>
              <a:t>Gather and refine requirements regularly</a:t>
            </a:r>
          </a:p>
          <a:p>
            <a:pPr>
              <a:buFont typeface="Arial" panose="020B0604020202020204" pitchFamily="34" charset="0"/>
              <a:buChar char="•"/>
            </a:pPr>
            <a:r>
              <a:rPr lang="en-US" sz="5600" dirty="0"/>
              <a:t>Create and manage user stories and product backlog</a:t>
            </a:r>
          </a:p>
          <a:p>
            <a:pPr>
              <a:buFont typeface="Arial" panose="020B0604020202020204" pitchFamily="34" charset="0"/>
              <a:buChar char="•"/>
            </a:pPr>
            <a:r>
              <a:rPr lang="en-US" sz="5600" dirty="0"/>
              <a:t>Work closely with the Product Owner and development team</a:t>
            </a:r>
          </a:p>
          <a:p>
            <a:pPr>
              <a:buFont typeface="Arial" panose="020B0604020202020204" pitchFamily="34" charset="0"/>
              <a:buChar char="•"/>
            </a:pPr>
            <a:r>
              <a:rPr lang="en-US" sz="5600" dirty="0"/>
              <a:t>Clarify requirements during sprint planning meetings</a:t>
            </a:r>
          </a:p>
          <a:p>
            <a:pPr>
              <a:buFont typeface="Arial" panose="020B0604020202020204" pitchFamily="34" charset="0"/>
              <a:buChar char="•"/>
            </a:pPr>
            <a:r>
              <a:rPr lang="en-US" sz="5600" dirty="0"/>
              <a:t>Participate in daily meetings and sprint reviews</a:t>
            </a:r>
          </a:p>
          <a:p>
            <a:pPr>
              <a:buFont typeface="Wingdings" panose="05000000000000000000" pitchFamily="2" charset="2"/>
              <a:buChar char="v"/>
            </a:pPr>
            <a:r>
              <a:rPr lang="en-US" sz="6400" b="1" u="sng" dirty="0"/>
              <a:t>Advantages of Agile</a:t>
            </a:r>
          </a:p>
          <a:p>
            <a:pPr>
              <a:buFont typeface="Arial" panose="020B0604020202020204" pitchFamily="34" charset="0"/>
              <a:buChar char="•"/>
            </a:pPr>
            <a:r>
              <a:rPr lang="en-US" sz="5600" dirty="0"/>
              <a:t>Flexible and adaptable to changes</a:t>
            </a:r>
          </a:p>
          <a:p>
            <a:pPr>
              <a:buFont typeface="Arial" panose="020B0604020202020204" pitchFamily="34" charset="0"/>
              <a:buChar char="•"/>
            </a:pPr>
            <a:r>
              <a:rPr lang="en-US" sz="5600" dirty="0"/>
              <a:t>Continuous customer feedback</a:t>
            </a:r>
          </a:p>
          <a:p>
            <a:pPr>
              <a:buFont typeface="Arial" panose="020B0604020202020204" pitchFamily="34" charset="0"/>
              <a:buChar char="•"/>
            </a:pPr>
            <a:r>
              <a:rPr lang="en-US" sz="5600" dirty="0"/>
              <a:t>Faster delivery of small working parts</a:t>
            </a:r>
          </a:p>
          <a:p>
            <a:pPr>
              <a:buFont typeface="Arial" panose="020B0604020202020204" pitchFamily="34" charset="0"/>
              <a:buChar char="•"/>
            </a:pPr>
            <a:r>
              <a:rPr lang="en-US" sz="5600" dirty="0"/>
              <a:t>Higher customer satisfaction</a:t>
            </a:r>
          </a:p>
          <a:p>
            <a:pPr>
              <a:buFont typeface="Wingdings" panose="05000000000000000000" pitchFamily="2" charset="2"/>
              <a:buChar char="v"/>
            </a:pPr>
            <a:r>
              <a:rPr lang="en-US" sz="6400" b="1" u="sng" dirty="0"/>
              <a:t>Disadvantages of Agile</a:t>
            </a:r>
          </a:p>
          <a:p>
            <a:pPr>
              <a:buFont typeface="Arial" panose="020B0604020202020204" pitchFamily="34" charset="0"/>
              <a:buChar char="•"/>
            </a:pPr>
            <a:r>
              <a:rPr lang="en-US" sz="5600" dirty="0"/>
              <a:t>Less detailed documentation</a:t>
            </a:r>
          </a:p>
          <a:p>
            <a:pPr>
              <a:buFont typeface="Arial" panose="020B0604020202020204" pitchFamily="34" charset="0"/>
              <a:buChar char="•"/>
            </a:pPr>
            <a:r>
              <a:rPr lang="en-US" sz="5600" dirty="0"/>
              <a:t>Scope may change frequently</a:t>
            </a:r>
          </a:p>
          <a:p>
            <a:pPr>
              <a:buFont typeface="Arial" panose="020B0604020202020204" pitchFamily="34" charset="0"/>
              <a:buChar char="•"/>
            </a:pPr>
            <a:r>
              <a:rPr lang="en-US" sz="5600" dirty="0"/>
              <a:t>Requires active stakeholder involvement</a:t>
            </a:r>
          </a:p>
          <a:p>
            <a:pPr>
              <a:buFont typeface="Arial" panose="020B0604020202020204" pitchFamily="34" charset="0"/>
              <a:buChar char="•"/>
            </a:pPr>
            <a:r>
              <a:rPr lang="en-US" sz="5600" dirty="0"/>
              <a:t>Can be difficult to predict final cost and timeline</a:t>
            </a:r>
          </a:p>
          <a:p>
            <a:pPr>
              <a:buFont typeface="Arial" panose="020B0604020202020204" pitchFamily="34" charset="0"/>
              <a:buChar char="•"/>
            </a:pPr>
            <a:endParaRPr lang="en-US" sz="5600" dirty="0"/>
          </a:p>
          <a:p>
            <a:endParaRPr lang="en-IN" dirty="0"/>
          </a:p>
        </p:txBody>
      </p:sp>
    </p:spTree>
    <p:extLst>
      <p:ext uri="{BB962C8B-B14F-4D97-AF65-F5344CB8AC3E}">
        <p14:creationId xmlns:p14="http://schemas.microsoft.com/office/powerpoint/2010/main" val="79419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08FB6-FDE4-7D7B-56B3-AE06BC09B625}"/>
              </a:ext>
            </a:extLst>
          </p:cNvPr>
          <p:cNvSpPr>
            <a:spLocks noGrp="1"/>
          </p:cNvSpPr>
          <p:nvPr>
            <p:ph type="title"/>
          </p:nvPr>
        </p:nvSpPr>
        <p:spPr>
          <a:xfrm>
            <a:off x="2592925" y="624110"/>
            <a:ext cx="8911687" cy="791735"/>
          </a:xfrm>
        </p:spPr>
        <p:txBody>
          <a:bodyPr/>
          <a:lstStyle/>
          <a:p>
            <a:r>
              <a:rPr lang="en-IN" b="1" u="sng" dirty="0"/>
              <a:t>Scenario Analysis</a:t>
            </a:r>
          </a:p>
        </p:txBody>
      </p:sp>
      <p:sp>
        <p:nvSpPr>
          <p:cNvPr id="3" name="Content Placeholder 2">
            <a:extLst>
              <a:ext uri="{FF2B5EF4-FFF2-40B4-BE49-F238E27FC236}">
                <a16:creationId xmlns:a16="http://schemas.microsoft.com/office/drawing/2014/main" id="{28BEB933-0F00-70E4-5D58-FE4009486378}"/>
              </a:ext>
            </a:extLst>
          </p:cNvPr>
          <p:cNvSpPr>
            <a:spLocks noGrp="1"/>
          </p:cNvSpPr>
          <p:nvPr>
            <p:ph idx="1"/>
          </p:nvPr>
        </p:nvSpPr>
        <p:spPr>
          <a:xfrm>
            <a:off x="1976284" y="1415844"/>
            <a:ext cx="10068232" cy="4818045"/>
          </a:xfrm>
        </p:spPr>
        <p:txBody>
          <a:bodyPr>
            <a:normAutofit fontScale="85000" lnSpcReduction="20000"/>
          </a:bodyPr>
          <a:lstStyle/>
          <a:p>
            <a:pPr marL="0" indent="0">
              <a:buNone/>
            </a:pPr>
            <a:r>
              <a:rPr lang="en-US" sz="1900" dirty="0"/>
              <a:t>        Scenario analysis is a technique used to evaluate possible future events by considering different “what-if” situations. It helps organizations understand how changes in factors like market conditions, costs, or risks may affect outcomes.</a:t>
            </a:r>
          </a:p>
          <a:p>
            <a:pPr marL="0" indent="0">
              <a:buNone/>
            </a:pPr>
            <a:r>
              <a:rPr lang="en-US" sz="1900" dirty="0"/>
              <a:t>       It is commonly used in business planning, risk management, and financial forecasting.</a:t>
            </a:r>
          </a:p>
          <a:p>
            <a:pPr>
              <a:buFont typeface="Wingdings" panose="05000000000000000000" pitchFamily="2" charset="2"/>
              <a:buChar char="v"/>
            </a:pPr>
            <a:r>
              <a:rPr lang="en-US" sz="1900" b="1" u="sng" dirty="0"/>
              <a:t>Purpose of Scenario Analysis</a:t>
            </a:r>
          </a:p>
          <a:p>
            <a:r>
              <a:rPr lang="en-US" sz="1900" dirty="0"/>
              <a:t>To identify potential risks and opportunities</a:t>
            </a:r>
          </a:p>
          <a:p>
            <a:r>
              <a:rPr lang="en-US" sz="1900" dirty="0"/>
              <a:t>To support better decision-making</a:t>
            </a:r>
          </a:p>
          <a:p>
            <a:r>
              <a:rPr lang="en-US" sz="1900" dirty="0"/>
              <a:t>To prepare for uncertain future conditions</a:t>
            </a:r>
          </a:p>
          <a:p>
            <a:r>
              <a:rPr lang="en-US" sz="1900" dirty="0"/>
              <a:t>To improve strategic planning</a:t>
            </a:r>
          </a:p>
          <a:p>
            <a:r>
              <a:rPr lang="en-US" sz="1900" dirty="0"/>
              <a:t>To reduce unexpected losses</a:t>
            </a:r>
          </a:p>
          <a:p>
            <a:pPr>
              <a:buFont typeface="Wingdings" panose="05000000000000000000" pitchFamily="2" charset="2"/>
              <a:buChar char="v"/>
            </a:pPr>
            <a:r>
              <a:rPr lang="en-US" sz="1900" b="1" u="sng" dirty="0"/>
              <a:t>Example</a:t>
            </a:r>
          </a:p>
          <a:p>
            <a:pPr marL="0" indent="0">
              <a:buNone/>
            </a:pPr>
            <a:r>
              <a:rPr lang="en-US" sz="1900" dirty="0"/>
              <a:t>     A company plans to launch a new product. It creates three possible scenarios:</a:t>
            </a:r>
          </a:p>
          <a:p>
            <a:pPr marL="457200" indent="-457200">
              <a:buFont typeface="+mj-lt"/>
              <a:buAutoNum type="arabicPeriod"/>
            </a:pPr>
            <a:r>
              <a:rPr lang="en-US" sz="1900" b="1" dirty="0"/>
              <a:t>Best Case Scenario</a:t>
            </a:r>
            <a:r>
              <a:rPr lang="en-US" sz="1900" dirty="0"/>
              <a:t> – High customer demand leads to high sales and profit.</a:t>
            </a:r>
          </a:p>
          <a:p>
            <a:pPr marL="457200" indent="-457200">
              <a:buFont typeface="+mj-lt"/>
              <a:buAutoNum type="arabicPeriod"/>
            </a:pPr>
            <a:r>
              <a:rPr lang="en-US" sz="1900" b="1" dirty="0"/>
              <a:t>Moderate Scenario</a:t>
            </a:r>
            <a:r>
              <a:rPr lang="en-US" sz="1900" dirty="0"/>
              <a:t> – Average demand results in stable but moderate profit.</a:t>
            </a:r>
          </a:p>
          <a:p>
            <a:pPr marL="457200" indent="-457200">
              <a:buFont typeface="+mj-lt"/>
              <a:buAutoNum type="arabicPeriod"/>
            </a:pPr>
            <a:r>
              <a:rPr lang="en-US" sz="1900" b="1" dirty="0"/>
              <a:t>Worst Case Scenario</a:t>
            </a:r>
            <a:r>
              <a:rPr lang="en-US" sz="1900" dirty="0"/>
              <a:t> – Low demand causes low sales and possible loss.</a:t>
            </a:r>
          </a:p>
          <a:p>
            <a:pPr marL="457200" indent="-457200">
              <a:buFont typeface="+mj-lt"/>
              <a:buAutoNum type="arabicPeriod"/>
            </a:pPr>
            <a:endParaRPr lang="en-US" sz="1900" b="1" u="sng" dirty="0"/>
          </a:p>
          <a:p>
            <a:endParaRPr lang="en-IN" dirty="0"/>
          </a:p>
        </p:txBody>
      </p:sp>
    </p:spTree>
    <p:extLst>
      <p:ext uri="{BB962C8B-B14F-4D97-AF65-F5344CB8AC3E}">
        <p14:creationId xmlns:p14="http://schemas.microsoft.com/office/powerpoint/2010/main" val="1949367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8F814-5018-3EB6-6167-05A61D01A03A}"/>
              </a:ext>
            </a:extLst>
          </p:cNvPr>
          <p:cNvSpPr>
            <a:spLocks noGrp="1"/>
          </p:cNvSpPr>
          <p:nvPr>
            <p:ph type="title"/>
          </p:nvPr>
        </p:nvSpPr>
        <p:spPr>
          <a:xfrm>
            <a:off x="2071815" y="93168"/>
            <a:ext cx="8911687" cy="752406"/>
          </a:xfrm>
        </p:spPr>
        <p:txBody>
          <a:bodyPr/>
          <a:lstStyle/>
          <a:p>
            <a:r>
              <a:rPr lang="en-IN" b="1" u="sng" dirty="0"/>
              <a:t>Data Governance</a:t>
            </a:r>
          </a:p>
        </p:txBody>
      </p:sp>
      <p:sp>
        <p:nvSpPr>
          <p:cNvPr id="9" name="Content Placeholder 8">
            <a:extLst>
              <a:ext uri="{FF2B5EF4-FFF2-40B4-BE49-F238E27FC236}">
                <a16:creationId xmlns:a16="http://schemas.microsoft.com/office/drawing/2014/main" id="{C36E258E-2153-AAA4-52B5-7CCE725B003B}"/>
              </a:ext>
            </a:extLst>
          </p:cNvPr>
          <p:cNvSpPr>
            <a:spLocks noGrp="1"/>
          </p:cNvSpPr>
          <p:nvPr>
            <p:ph idx="1"/>
          </p:nvPr>
        </p:nvSpPr>
        <p:spPr>
          <a:xfrm>
            <a:off x="2202426" y="1107569"/>
            <a:ext cx="9351347" cy="5154138"/>
          </a:xfrm>
        </p:spPr>
        <p:txBody>
          <a:bodyPr>
            <a:normAutofit/>
          </a:bodyPr>
          <a:lstStyle/>
          <a:p>
            <a:pPr marL="0" indent="0">
              <a:buNone/>
            </a:pPr>
            <a:r>
              <a:rPr lang="en-US" dirty="0"/>
              <a:t>         Data governance is a framework of policies, processes, and standards used to manage data effectively within an organization. It ensures that data is accurate, secure, consistent, and used properly across the company.</a:t>
            </a:r>
          </a:p>
          <a:p>
            <a:pPr>
              <a:buFont typeface="Wingdings" panose="05000000000000000000" pitchFamily="2" charset="2"/>
              <a:buChar char="v"/>
            </a:pPr>
            <a:r>
              <a:rPr lang="en-US" sz="2000" b="1" u="sng" dirty="0"/>
              <a:t>Main Goals of Data Governance</a:t>
            </a:r>
          </a:p>
          <a:p>
            <a:pPr>
              <a:buFont typeface="Courier New" panose="02070309020205020404" pitchFamily="49" charset="0"/>
              <a:buChar char="o"/>
            </a:pPr>
            <a:r>
              <a:rPr lang="en-US" b="1" dirty="0"/>
              <a:t>Improve Data Quality</a:t>
            </a:r>
            <a:r>
              <a:rPr lang="en-US" dirty="0"/>
              <a:t> – Ensure data is accurate, complete, and reliable.</a:t>
            </a:r>
          </a:p>
          <a:p>
            <a:pPr>
              <a:buFont typeface="Courier New" panose="02070309020205020404" pitchFamily="49" charset="0"/>
              <a:buChar char="o"/>
            </a:pPr>
            <a:r>
              <a:rPr lang="en-US" b="1" dirty="0"/>
              <a:t>Ensure Data Security</a:t>
            </a:r>
            <a:r>
              <a:rPr lang="en-US" dirty="0"/>
              <a:t> – Protect data from unauthorized access or misuse.</a:t>
            </a:r>
          </a:p>
          <a:p>
            <a:pPr>
              <a:buFont typeface="Courier New" panose="02070309020205020404" pitchFamily="49" charset="0"/>
              <a:buChar char="o"/>
            </a:pPr>
            <a:r>
              <a:rPr lang="en-US" b="1" dirty="0"/>
              <a:t>Maintain Compliance</a:t>
            </a:r>
            <a:r>
              <a:rPr lang="en-US" dirty="0"/>
              <a:t> – Follow legal and regulatory requirements.</a:t>
            </a:r>
          </a:p>
          <a:p>
            <a:pPr>
              <a:buFont typeface="Courier New" panose="02070309020205020404" pitchFamily="49" charset="0"/>
              <a:buChar char="o"/>
            </a:pPr>
            <a:r>
              <a:rPr lang="en-US" b="1" dirty="0"/>
              <a:t>Standardize Data Management</a:t>
            </a:r>
            <a:r>
              <a:rPr lang="en-US" dirty="0"/>
              <a:t> – Create common rules and definitions for data.</a:t>
            </a:r>
          </a:p>
          <a:p>
            <a:pPr>
              <a:buFont typeface="Courier New" panose="02070309020205020404" pitchFamily="49" charset="0"/>
              <a:buChar char="o"/>
            </a:pPr>
            <a:r>
              <a:rPr lang="en-US" b="1" dirty="0"/>
              <a:t>Increase Accountability</a:t>
            </a:r>
            <a:r>
              <a:rPr lang="en-US" dirty="0"/>
              <a:t> – Assign clear roles and responsibilities for data management.</a:t>
            </a:r>
          </a:p>
          <a:p>
            <a:pPr>
              <a:buFont typeface="Courier New" panose="02070309020205020404" pitchFamily="49" charset="0"/>
              <a:buChar char="o"/>
            </a:pPr>
            <a:r>
              <a:rPr lang="en-US" b="1" dirty="0"/>
              <a:t>Support Better Decision-Making</a:t>
            </a:r>
            <a:r>
              <a:rPr lang="en-US" dirty="0"/>
              <a:t> – Provide trusted data for business decisions.</a:t>
            </a:r>
          </a:p>
          <a:p>
            <a:pPr marL="0" indent="0">
              <a:buNone/>
            </a:pPr>
            <a:br>
              <a:rPr lang="en-US" dirty="0"/>
            </a:br>
            <a:endParaRPr lang="en-US" dirty="0"/>
          </a:p>
          <a:p>
            <a:endParaRPr lang="en-IN" dirty="0"/>
          </a:p>
        </p:txBody>
      </p:sp>
    </p:spTree>
    <p:extLst>
      <p:ext uri="{BB962C8B-B14F-4D97-AF65-F5344CB8AC3E}">
        <p14:creationId xmlns:p14="http://schemas.microsoft.com/office/powerpoint/2010/main" val="3717486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64A0E-9E53-373B-1BE8-60D69CF53D32}"/>
              </a:ext>
            </a:extLst>
          </p:cNvPr>
          <p:cNvSpPr txBox="1"/>
          <p:nvPr/>
        </p:nvSpPr>
        <p:spPr>
          <a:xfrm>
            <a:off x="1848464" y="629374"/>
            <a:ext cx="10048568" cy="4031873"/>
          </a:xfrm>
          <a:prstGeom prst="rect">
            <a:avLst/>
          </a:prstGeom>
          <a:noFill/>
        </p:spPr>
        <p:txBody>
          <a:bodyPr wrap="square">
            <a:spAutoFit/>
          </a:bodyPr>
          <a:lstStyle/>
          <a:p>
            <a:pPr>
              <a:buNone/>
            </a:pPr>
            <a:r>
              <a:rPr lang="en-US" sz="2000" b="1" u="sng" dirty="0"/>
              <a:t>Elements of Data Governance</a:t>
            </a:r>
          </a:p>
          <a:p>
            <a:pPr>
              <a:buNone/>
            </a:pPr>
            <a:endParaRPr lang="en-US" sz="2000" b="1" u="sng" dirty="0"/>
          </a:p>
          <a:p>
            <a:pPr>
              <a:buFont typeface="+mj-lt"/>
              <a:buAutoNum type="arabicPeriod"/>
            </a:pPr>
            <a:r>
              <a:rPr lang="en-US" b="1" dirty="0"/>
              <a:t>Data Policies &amp; Standards</a:t>
            </a:r>
            <a:r>
              <a:rPr lang="en-US" dirty="0"/>
              <a:t> – Rules that define how data should be created, stored, and used.</a:t>
            </a:r>
          </a:p>
          <a:p>
            <a:pPr>
              <a:buFont typeface="+mj-lt"/>
              <a:buAutoNum type="arabicPeriod"/>
            </a:pPr>
            <a:r>
              <a:rPr lang="en-US" b="1" dirty="0"/>
              <a:t>Data Quality Management</a:t>
            </a:r>
            <a:r>
              <a:rPr lang="en-US" dirty="0"/>
              <a:t> – Ensuring data is accurate, complete, and consistent.</a:t>
            </a:r>
          </a:p>
          <a:p>
            <a:pPr>
              <a:buFont typeface="+mj-lt"/>
              <a:buAutoNum type="arabicPeriod"/>
            </a:pPr>
            <a:r>
              <a:rPr lang="en-US" b="1" dirty="0"/>
              <a:t>Data Security &amp; Privacy</a:t>
            </a:r>
            <a:r>
              <a:rPr lang="en-US" dirty="0"/>
              <a:t> – Protecting data from unauthorized access and ensuring confidentiality.</a:t>
            </a:r>
          </a:p>
          <a:p>
            <a:pPr>
              <a:buFont typeface="+mj-lt"/>
              <a:buAutoNum type="arabicPeriod"/>
            </a:pPr>
            <a:r>
              <a:rPr lang="en-US" b="1" dirty="0"/>
              <a:t>Data Stewardship</a:t>
            </a:r>
            <a:r>
              <a:rPr lang="en-US" dirty="0"/>
              <a:t> – Assigning responsible individuals (data stewards) to manage and monitor data.</a:t>
            </a:r>
          </a:p>
          <a:p>
            <a:pPr>
              <a:buFont typeface="+mj-lt"/>
              <a:buAutoNum type="arabicPeriod"/>
            </a:pPr>
            <a:r>
              <a:rPr lang="en-US" b="1" dirty="0"/>
              <a:t>Data Architecture</a:t>
            </a:r>
            <a:r>
              <a:rPr lang="en-US" dirty="0"/>
              <a:t> – Organizing data systems and structures properly.</a:t>
            </a:r>
          </a:p>
          <a:p>
            <a:pPr>
              <a:buFont typeface="+mj-lt"/>
              <a:buAutoNum type="arabicPeriod"/>
            </a:pPr>
            <a:r>
              <a:rPr lang="en-US" b="1" dirty="0"/>
              <a:t>Metadata Management</a:t>
            </a:r>
            <a:r>
              <a:rPr lang="en-US" dirty="0"/>
              <a:t> – Managing information about data (data about data).</a:t>
            </a:r>
          </a:p>
          <a:p>
            <a:pPr>
              <a:buFont typeface="+mj-lt"/>
              <a:buAutoNum type="arabicPeriod"/>
            </a:pPr>
            <a:r>
              <a:rPr lang="en-US" b="1" dirty="0"/>
              <a:t>Compliance Management</a:t>
            </a:r>
            <a:r>
              <a:rPr lang="en-US" dirty="0"/>
              <a:t> – Ensuring data practices follow legal and regulatory requirements.</a:t>
            </a:r>
          </a:p>
          <a:p>
            <a:pPr>
              <a:buFont typeface="+mj-lt"/>
              <a:buAutoNum type="arabicPeriod"/>
            </a:pPr>
            <a:endParaRPr lang="en-US" dirty="0"/>
          </a:p>
        </p:txBody>
      </p:sp>
      <p:sp>
        <p:nvSpPr>
          <p:cNvPr id="5" name="TextBox 4">
            <a:extLst>
              <a:ext uri="{FF2B5EF4-FFF2-40B4-BE49-F238E27FC236}">
                <a16:creationId xmlns:a16="http://schemas.microsoft.com/office/drawing/2014/main" id="{FFA72F59-9EA5-4E41-5856-818A4E38E3A8}"/>
              </a:ext>
            </a:extLst>
          </p:cNvPr>
          <p:cNvSpPr txBox="1"/>
          <p:nvPr/>
        </p:nvSpPr>
        <p:spPr>
          <a:xfrm>
            <a:off x="1848464" y="4354617"/>
            <a:ext cx="9960078" cy="2369880"/>
          </a:xfrm>
          <a:prstGeom prst="rect">
            <a:avLst/>
          </a:prstGeom>
          <a:noFill/>
        </p:spPr>
        <p:txBody>
          <a:bodyPr wrap="square">
            <a:spAutoFit/>
          </a:bodyPr>
          <a:lstStyle/>
          <a:p>
            <a:pPr>
              <a:buNone/>
            </a:pPr>
            <a:r>
              <a:rPr lang="en-US" sz="2000" b="1" u="sng" dirty="0"/>
              <a:t>Benefits of Data Governance</a:t>
            </a:r>
          </a:p>
          <a:p>
            <a:pPr>
              <a:buNone/>
            </a:pPr>
            <a:endParaRPr lang="en-US" sz="2000" b="1" u="sng" dirty="0"/>
          </a:p>
          <a:p>
            <a:pPr>
              <a:buFont typeface="Arial" panose="020B0604020202020204" pitchFamily="34" charset="0"/>
              <a:buChar char="•"/>
            </a:pPr>
            <a:r>
              <a:rPr lang="en-US" dirty="0"/>
              <a:t>Improves data accuracy and reliability</a:t>
            </a:r>
          </a:p>
          <a:p>
            <a:pPr>
              <a:buFont typeface="Arial" panose="020B0604020202020204" pitchFamily="34" charset="0"/>
              <a:buChar char="•"/>
            </a:pPr>
            <a:r>
              <a:rPr lang="en-US" dirty="0"/>
              <a:t>Enhances data security and reduces risk</a:t>
            </a:r>
          </a:p>
          <a:p>
            <a:pPr>
              <a:buFont typeface="Arial" panose="020B0604020202020204" pitchFamily="34" charset="0"/>
              <a:buChar char="•"/>
            </a:pPr>
            <a:r>
              <a:rPr lang="en-US" dirty="0"/>
              <a:t>Ensures regulatory compliance</a:t>
            </a:r>
          </a:p>
          <a:p>
            <a:pPr>
              <a:buFont typeface="Arial" panose="020B0604020202020204" pitchFamily="34" charset="0"/>
              <a:buChar char="•"/>
            </a:pPr>
            <a:r>
              <a:rPr lang="en-US" dirty="0"/>
              <a:t>Supports better business decisions</a:t>
            </a:r>
          </a:p>
          <a:p>
            <a:pPr>
              <a:buFont typeface="Arial" panose="020B0604020202020204" pitchFamily="34" charset="0"/>
              <a:buChar char="•"/>
            </a:pPr>
            <a:r>
              <a:rPr lang="en-US" dirty="0"/>
              <a:t>Reduces data duplication and errors</a:t>
            </a:r>
          </a:p>
          <a:p>
            <a:pPr>
              <a:buFont typeface="Arial" panose="020B0604020202020204" pitchFamily="34" charset="0"/>
              <a:buChar char="•"/>
            </a:pPr>
            <a:r>
              <a:rPr lang="en-US" dirty="0"/>
              <a:t>Increases accountability within the organization</a:t>
            </a:r>
          </a:p>
        </p:txBody>
      </p:sp>
    </p:spTree>
    <p:extLst>
      <p:ext uri="{BB962C8B-B14F-4D97-AF65-F5344CB8AC3E}">
        <p14:creationId xmlns:p14="http://schemas.microsoft.com/office/powerpoint/2010/main" val="2232875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F94600-D69C-C0A3-DE40-51304ECD4675}"/>
              </a:ext>
            </a:extLst>
          </p:cNvPr>
          <p:cNvSpPr txBox="1"/>
          <p:nvPr/>
        </p:nvSpPr>
        <p:spPr>
          <a:xfrm>
            <a:off x="1858296" y="816693"/>
            <a:ext cx="10658168" cy="5201424"/>
          </a:xfrm>
          <a:prstGeom prst="rect">
            <a:avLst/>
          </a:prstGeom>
          <a:noFill/>
        </p:spPr>
        <p:txBody>
          <a:bodyPr wrap="square">
            <a:spAutoFit/>
          </a:bodyPr>
          <a:lstStyle/>
          <a:p>
            <a:pPr>
              <a:buNone/>
            </a:pPr>
            <a:r>
              <a:rPr lang="en-US" sz="3200" b="1" u="sng" dirty="0"/>
              <a:t>Ethical Use of Data</a:t>
            </a:r>
          </a:p>
          <a:p>
            <a:pPr>
              <a:buNone/>
            </a:pPr>
            <a:r>
              <a:rPr lang="en-US" dirty="0"/>
              <a:t>Ethical use of data means collecting, storing, and using data in a responsible, fair, and transparent way that respects individuals’ rights and privacy. Organizations must ensure data is not misused, manipulated, or used to harm people.</a:t>
            </a:r>
          </a:p>
          <a:p>
            <a:pPr>
              <a:buNone/>
            </a:pPr>
            <a:br>
              <a:rPr lang="en-US" dirty="0"/>
            </a:br>
            <a:endParaRPr lang="en-US" sz="2400" b="1" u="sng" dirty="0"/>
          </a:p>
          <a:p>
            <a:pPr>
              <a:buNone/>
            </a:pPr>
            <a:r>
              <a:rPr lang="en-US" sz="2400" b="1" u="sng" dirty="0"/>
              <a:t>Key Principles of Ethical Data Use</a:t>
            </a:r>
          </a:p>
          <a:p>
            <a:pPr>
              <a:buFont typeface="+mj-lt"/>
              <a:buAutoNum type="arabicPeriod"/>
            </a:pPr>
            <a:r>
              <a:rPr lang="en-US" b="1" dirty="0"/>
              <a:t>Transparency</a:t>
            </a:r>
            <a:r>
              <a:rPr lang="en-US" dirty="0"/>
              <a:t> – Clearly inform people about how their data is collected and used.</a:t>
            </a:r>
          </a:p>
          <a:p>
            <a:pPr>
              <a:buFont typeface="+mj-lt"/>
              <a:buAutoNum type="arabicPeriod"/>
            </a:pPr>
            <a:r>
              <a:rPr lang="en-US" b="1" dirty="0"/>
              <a:t>Consent</a:t>
            </a:r>
            <a:r>
              <a:rPr lang="en-US" dirty="0"/>
              <a:t> – Obtain proper permission before collecting or processing personal data.</a:t>
            </a:r>
          </a:p>
          <a:p>
            <a:pPr>
              <a:buFont typeface="+mj-lt"/>
              <a:buAutoNum type="arabicPeriod"/>
            </a:pPr>
            <a:r>
              <a:rPr lang="en-US" b="1" dirty="0"/>
              <a:t>Privacy Protection</a:t>
            </a:r>
            <a:r>
              <a:rPr lang="en-US" dirty="0"/>
              <a:t> – Safeguard personal information from unauthorized access.</a:t>
            </a:r>
          </a:p>
          <a:p>
            <a:pPr>
              <a:buFont typeface="+mj-lt"/>
              <a:buAutoNum type="arabicPeriod"/>
            </a:pPr>
            <a:r>
              <a:rPr lang="en-US" b="1" dirty="0"/>
              <a:t>Fairness</a:t>
            </a:r>
            <a:r>
              <a:rPr lang="en-US" dirty="0"/>
              <a:t> – Avoid bias and discrimination in data analysis and decision-making.</a:t>
            </a:r>
          </a:p>
          <a:p>
            <a:pPr>
              <a:buFont typeface="+mj-lt"/>
              <a:buAutoNum type="arabicPeriod"/>
            </a:pPr>
            <a:r>
              <a:rPr lang="en-US" b="1" dirty="0"/>
              <a:t>Accountability</a:t>
            </a:r>
            <a:r>
              <a:rPr lang="en-US" dirty="0"/>
              <a:t> – Take responsibility for how data is managed and used.</a:t>
            </a:r>
          </a:p>
          <a:p>
            <a:pPr>
              <a:buFont typeface="+mj-lt"/>
              <a:buAutoNum type="arabicPeriod"/>
            </a:pPr>
            <a:r>
              <a:rPr lang="en-US" b="1" dirty="0"/>
              <a:t>Security</a:t>
            </a:r>
            <a:r>
              <a:rPr lang="en-US" dirty="0"/>
              <a:t> – Implement strong measures to protect data from breaches.</a:t>
            </a:r>
          </a:p>
          <a:p>
            <a:pPr>
              <a:buFont typeface="+mj-lt"/>
              <a:buAutoNum type="arabicPeriod"/>
            </a:pPr>
            <a:r>
              <a:rPr lang="en-US" b="1" dirty="0"/>
              <a:t>Purpose Limitation</a:t>
            </a:r>
            <a:r>
              <a:rPr lang="en-US" dirty="0"/>
              <a:t> – Use data only for the specific purpose it was collected.</a:t>
            </a:r>
          </a:p>
          <a:p>
            <a:pPr>
              <a:buNone/>
            </a:pPr>
            <a:br>
              <a:rPr lang="en-US" dirty="0"/>
            </a:br>
            <a:endParaRPr lang="en-US" dirty="0"/>
          </a:p>
          <a:p>
            <a:pPr>
              <a:buNone/>
            </a:pPr>
            <a:endParaRPr lang="en-US" dirty="0"/>
          </a:p>
        </p:txBody>
      </p:sp>
    </p:spTree>
    <p:extLst>
      <p:ext uri="{BB962C8B-B14F-4D97-AF65-F5344CB8AC3E}">
        <p14:creationId xmlns:p14="http://schemas.microsoft.com/office/powerpoint/2010/main" val="3592029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2B0F-2EE2-F29F-D8C7-4B652F1D1069}"/>
              </a:ext>
            </a:extLst>
          </p:cNvPr>
          <p:cNvSpPr>
            <a:spLocks noGrp="1"/>
          </p:cNvSpPr>
          <p:nvPr>
            <p:ph type="ctrTitle"/>
          </p:nvPr>
        </p:nvSpPr>
        <p:spPr>
          <a:xfrm>
            <a:off x="3729755" y="3077739"/>
            <a:ext cx="8915399" cy="2262781"/>
          </a:xfrm>
        </p:spPr>
        <p:txBody>
          <a:bodyPr>
            <a:normAutofit/>
          </a:bodyPr>
          <a:lstStyle/>
          <a:p>
            <a:r>
              <a:rPr lang="en-IN" sz="9600" dirty="0">
                <a:solidFill>
                  <a:schemeClr val="bg1"/>
                </a:solidFill>
                <a:highlight>
                  <a:srgbClr val="800000"/>
                </a:highlight>
              </a:rPr>
              <a:t>THANK YOU</a:t>
            </a:r>
          </a:p>
        </p:txBody>
      </p:sp>
    </p:spTree>
    <p:extLst>
      <p:ext uri="{BB962C8B-B14F-4D97-AF65-F5344CB8AC3E}">
        <p14:creationId xmlns:p14="http://schemas.microsoft.com/office/powerpoint/2010/main" val="36417910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96</TotalTime>
  <Words>1736</Words>
  <Application>Microsoft Office PowerPoint</Application>
  <PresentationFormat>Widescreen</PresentationFormat>
  <Paragraphs>173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Courier New</vt:lpstr>
      <vt:lpstr>Wingdings</vt:lpstr>
      <vt:lpstr>Wingdings 3</vt:lpstr>
      <vt:lpstr>Wisp</vt:lpstr>
      <vt:lpstr>Information Technology</vt:lpstr>
      <vt:lpstr>What is Information Technology?</vt:lpstr>
      <vt:lpstr>Importance of IT</vt:lpstr>
      <vt:lpstr>Core Components of IT</vt:lpstr>
      <vt:lpstr>Database Management Systems(DBMS)</vt:lpstr>
      <vt:lpstr>Enterprise Resource Planning</vt:lpstr>
      <vt:lpstr>ERP vs CRM</vt:lpstr>
      <vt:lpstr>PowerPoint Presentation</vt:lpstr>
      <vt:lpstr>Data Lifetime Management(DLM)</vt:lpstr>
      <vt:lpstr>Responsibilities of  a Business Analysts:</vt:lpstr>
      <vt:lpstr>Business Analysis Methodologies:</vt:lpstr>
      <vt:lpstr>Role of BA in Waterfall</vt:lpstr>
      <vt:lpstr>Role of BA in Agile</vt:lpstr>
      <vt:lpstr>Scenario Analysis</vt:lpstr>
      <vt:lpstr>Data Governance</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Shaswati Bala</dc:creator>
  <cp:lastModifiedBy>Shaswati Bala</cp:lastModifiedBy>
  <cp:revision>2</cp:revision>
  <dcterms:created xsi:type="dcterms:W3CDTF">2026-02-20T14:21:32Z</dcterms:created>
  <dcterms:modified xsi:type="dcterms:W3CDTF">2026-02-22T14:03:04Z</dcterms:modified>
</cp:coreProperties>
</file>